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5143500" type="screen16x9"/>
  <p:notesSz cx="6858000" cy="9144000"/>
  <p:embeddedFontLst>
    <p:embeddedFont>
      <p:font typeface="Roboto" panose="020B060402020202020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81D7A4-3B6C-4026-BE81-00E82F9BF1B9}">
  <a:tblStyle styleId="{9181D7A4-3B6C-4026-BE81-00E82F9BF1B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0" name="Shape 11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6" name="Shape 11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t>3 points: market size, alternative to stocks and leverage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Shape 12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5" name="Shape 125"/>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Shape 1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4" name="Shape 13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Shape 15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1" name="Shape 15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Shape 18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1" name="Shape 18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Shape 21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5" name="Shape 215"/>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Shape 2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0" name="Shape 24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Shape 2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3" name="Shape 273"/>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Shape 3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6" name="Shape 30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Shape 33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39" name="Shape 33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2 things to note: High ratio means high expectations for people</a:t>
            </a:r>
            <a:endParaRPr/>
          </a:p>
          <a:p>
            <a:pPr marL="0" lvl="0" indent="0" rtl="0">
              <a:spcBef>
                <a:spcPts val="0"/>
              </a:spcBef>
              <a:spcAft>
                <a:spcPts val="0"/>
              </a:spcAft>
              <a:buNone/>
            </a:pPr>
            <a:r>
              <a:rPr lang="en"/>
              <a:t>Notice that rent decreased in 25% of the zip codes since 2010</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Shape 3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72" name="Shape 37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Shape 40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05" name="Shape 405"/>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Shape 4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29" name="Shape 42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Shape 46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62" name="Shape 46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Why I am predicting change and not value: to avoid time series</a:t>
            </a:r>
            <a:endParaRPr/>
          </a:p>
          <a:p>
            <a:pPr marL="0" lvl="0" indent="0">
              <a:spcBef>
                <a:spcPts val="0"/>
              </a:spcBef>
              <a:spcAft>
                <a:spcPts val="0"/>
              </a:spcAft>
              <a:buNone/>
            </a:pPr>
            <a:r>
              <a:rPr lang="en"/>
              <a:t>Why am I not doing cross validation? Because year matters. You can’t predict past with future</a:t>
            </a:r>
            <a:endParaRPr/>
          </a:p>
          <a:p>
            <a:pPr marL="0" lvl="0" indent="0"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Shape 49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95" name="Shape 495"/>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Shape 52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8" name="Shape 52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Shape 5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60" name="Shape 56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Shape 5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4" name="Shape 58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Shape 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Shape 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Shape 2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Shape 23"/>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Shape 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Shape 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Shape 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Shape 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 name="Shape 37"/>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Shape 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Shape 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endParaRPr/>
          </a:p>
        </p:txBody>
      </p:sp>
      <p:sp>
        <p:nvSpPr>
          <p:cNvPr id="46" name="Shape 4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Shape 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Shape 55"/>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 name="Shape 56"/>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 name="Shape 57"/>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8" name="Shape 58"/>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59" name="Shape 5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Shape 61"/>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62" name="Shape 6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3"/>
        <p:cNvGrpSpPr/>
        <p:nvPr/>
      </p:nvGrpSpPr>
      <p:grpSpPr>
        <a:xfrm>
          <a:off x="0" y="0"/>
          <a:ext cx="0" cy="0"/>
          <a:chOff x="0" y="0"/>
          <a:chExt cx="0" cy="0"/>
        </a:xfrm>
      </p:grpSpPr>
      <p:sp>
        <p:nvSpPr>
          <p:cNvPr id="64" name="Shape 6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5" name="Shape 6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6" name="Shape 6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7" name="Shape 67"/>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8" name="Shape 6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9"/>
        <p:cNvGrpSpPr/>
        <p:nvPr/>
      </p:nvGrpSpPr>
      <p:grpSpPr>
        <a:xfrm>
          <a:off x="0" y="0"/>
          <a:ext cx="0" cy="0"/>
          <a:chOff x="0" y="0"/>
          <a:chExt cx="0" cy="0"/>
        </a:xfrm>
      </p:grpSpPr>
      <p:sp>
        <p:nvSpPr>
          <p:cNvPr id="70" name="Shape 70"/>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 name="Shape 7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2" name="Shape 72"/>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3" name="Shape 73"/>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4" name="Shape 74"/>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5" name="Shape 7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Shape 77"/>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8" name="Shape 78"/>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 name="Shape 79"/>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80" name="Shape 8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1"/>
        <p:cNvGrpSpPr/>
        <p:nvPr/>
      </p:nvGrpSpPr>
      <p:grpSpPr>
        <a:xfrm>
          <a:off x="0" y="0"/>
          <a:ext cx="0" cy="0"/>
          <a:chOff x="0" y="0"/>
          <a:chExt cx="0" cy="0"/>
        </a:xfrm>
      </p:grpSpPr>
      <p:sp>
        <p:nvSpPr>
          <p:cNvPr id="82" name="Shape 82"/>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3" name="Shape 83"/>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4" name="Shape 84"/>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5" name="Shape 85"/>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1600"/>
              </a:spcBef>
              <a:spcAft>
                <a:spcPts val="0"/>
              </a:spcAft>
              <a:buClr>
                <a:schemeClr val="lt1"/>
              </a:buClr>
              <a:buSzPts val="1200"/>
              <a:buChar char="○"/>
              <a:defRPr sz="1200">
                <a:solidFill>
                  <a:schemeClr val="lt1"/>
                </a:solidFill>
              </a:defRPr>
            </a:lvl2pPr>
            <a:lvl3pPr marL="1371600" lvl="2" indent="-304800" rtl="0">
              <a:spcBef>
                <a:spcPts val="1600"/>
              </a:spcBef>
              <a:spcAft>
                <a:spcPts val="0"/>
              </a:spcAft>
              <a:buClr>
                <a:schemeClr val="lt1"/>
              </a:buClr>
              <a:buSzPts val="1200"/>
              <a:buChar char="■"/>
              <a:defRPr sz="1200">
                <a:solidFill>
                  <a:schemeClr val="lt1"/>
                </a:solidFill>
              </a:defRPr>
            </a:lvl3pPr>
            <a:lvl4pPr marL="1828800" lvl="3" indent="-304800" rtl="0">
              <a:spcBef>
                <a:spcPts val="1600"/>
              </a:spcBef>
              <a:spcAft>
                <a:spcPts val="0"/>
              </a:spcAft>
              <a:buClr>
                <a:schemeClr val="lt1"/>
              </a:buClr>
              <a:buSzPts val="1200"/>
              <a:buChar char="●"/>
              <a:defRPr sz="1200">
                <a:solidFill>
                  <a:schemeClr val="lt1"/>
                </a:solidFill>
              </a:defRPr>
            </a:lvl4pPr>
            <a:lvl5pPr marL="2286000" lvl="4" indent="-304800" rtl="0">
              <a:spcBef>
                <a:spcPts val="1600"/>
              </a:spcBef>
              <a:spcAft>
                <a:spcPts val="0"/>
              </a:spcAft>
              <a:buClr>
                <a:schemeClr val="lt1"/>
              </a:buClr>
              <a:buSzPts val="1200"/>
              <a:buChar char="○"/>
              <a:defRPr sz="1200">
                <a:solidFill>
                  <a:schemeClr val="lt1"/>
                </a:solidFill>
              </a:defRPr>
            </a:lvl5pPr>
            <a:lvl6pPr marL="2743200" lvl="5" indent="-304800" rtl="0">
              <a:spcBef>
                <a:spcPts val="1600"/>
              </a:spcBef>
              <a:spcAft>
                <a:spcPts val="0"/>
              </a:spcAft>
              <a:buClr>
                <a:schemeClr val="lt1"/>
              </a:buClr>
              <a:buSzPts val="1200"/>
              <a:buChar char="■"/>
              <a:defRPr sz="1200">
                <a:solidFill>
                  <a:schemeClr val="lt1"/>
                </a:solidFill>
              </a:defRPr>
            </a:lvl6pPr>
            <a:lvl7pPr marL="3200400" lvl="6" indent="-304800" rtl="0">
              <a:spcBef>
                <a:spcPts val="1600"/>
              </a:spcBef>
              <a:spcAft>
                <a:spcPts val="0"/>
              </a:spcAft>
              <a:buClr>
                <a:schemeClr val="lt1"/>
              </a:buClr>
              <a:buSzPts val="1200"/>
              <a:buChar char="●"/>
              <a:defRPr sz="1200">
                <a:solidFill>
                  <a:schemeClr val="lt1"/>
                </a:solidFill>
              </a:defRPr>
            </a:lvl7pPr>
            <a:lvl8pPr marL="3657600" lvl="7" indent="-304800" rtl="0">
              <a:spcBef>
                <a:spcPts val="1600"/>
              </a:spcBef>
              <a:spcAft>
                <a:spcPts val="0"/>
              </a:spcAft>
              <a:buClr>
                <a:schemeClr val="lt1"/>
              </a:buClr>
              <a:buSzPts val="1200"/>
              <a:buChar char="○"/>
              <a:defRPr sz="1200">
                <a:solidFill>
                  <a:schemeClr val="lt1"/>
                </a:solidFill>
              </a:defRPr>
            </a:lvl8pPr>
            <a:lvl9pPr marL="4114800" lvl="8" indent="-304800" rtl="0">
              <a:spcBef>
                <a:spcPts val="1600"/>
              </a:spcBef>
              <a:spcAft>
                <a:spcPts val="1600"/>
              </a:spcAft>
              <a:buClr>
                <a:schemeClr val="lt1"/>
              </a:buClr>
              <a:buSzPts val="1200"/>
              <a:buChar char="■"/>
              <a:defRPr sz="1200">
                <a:solidFill>
                  <a:schemeClr val="lt1"/>
                </a:solidFill>
              </a:defRPr>
            </a:lvl9pPr>
          </a:lstStyle>
          <a:p>
            <a:endParaRPr/>
          </a:p>
        </p:txBody>
      </p:sp>
      <p:sp>
        <p:nvSpPr>
          <p:cNvPr id="86" name="Shape 8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89" name="Shape 8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0"/>
        <p:cNvGrpSpPr/>
        <p:nvPr/>
      </p:nvGrpSpPr>
      <p:grpSpPr>
        <a:xfrm>
          <a:off x="0" y="0"/>
          <a:ext cx="0" cy="0"/>
          <a:chOff x="0" y="0"/>
          <a:chExt cx="0" cy="0"/>
        </a:xfrm>
      </p:grpSpPr>
      <p:sp>
        <p:nvSpPr>
          <p:cNvPr id="91" name="Shape 91"/>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 name="Shape 92"/>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3" name="Shape 9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4200"/>
              <a:buNone/>
              <a:defRPr sz="4200">
                <a:solidFill>
                  <a:schemeClr val="dk2"/>
                </a:solidFill>
              </a:defRPr>
            </a:lvl1pPr>
            <a:lvl2pPr lvl="1" algn="ctr" rtl="0">
              <a:spcBef>
                <a:spcPts val="0"/>
              </a:spcBef>
              <a:spcAft>
                <a:spcPts val="0"/>
              </a:spcAft>
              <a:buClr>
                <a:schemeClr val="dk2"/>
              </a:buClr>
              <a:buSzPts val="4200"/>
              <a:buNone/>
              <a:defRPr sz="4200">
                <a:solidFill>
                  <a:schemeClr val="dk2"/>
                </a:solidFill>
              </a:defRPr>
            </a:lvl2pPr>
            <a:lvl3pPr lvl="2" algn="ctr" rtl="0">
              <a:spcBef>
                <a:spcPts val="0"/>
              </a:spcBef>
              <a:spcAft>
                <a:spcPts val="0"/>
              </a:spcAft>
              <a:buClr>
                <a:schemeClr val="dk2"/>
              </a:buClr>
              <a:buSzPts val="4200"/>
              <a:buNone/>
              <a:defRPr sz="4200">
                <a:solidFill>
                  <a:schemeClr val="dk2"/>
                </a:solidFill>
              </a:defRPr>
            </a:lvl3pPr>
            <a:lvl4pPr lvl="3" algn="ctr" rtl="0">
              <a:spcBef>
                <a:spcPts val="0"/>
              </a:spcBef>
              <a:spcAft>
                <a:spcPts val="0"/>
              </a:spcAft>
              <a:buClr>
                <a:schemeClr val="dk2"/>
              </a:buClr>
              <a:buSzPts val="4200"/>
              <a:buNone/>
              <a:defRPr sz="4200">
                <a:solidFill>
                  <a:schemeClr val="dk2"/>
                </a:solidFill>
              </a:defRPr>
            </a:lvl4pPr>
            <a:lvl5pPr lvl="4" algn="ctr" rtl="0">
              <a:spcBef>
                <a:spcPts val="0"/>
              </a:spcBef>
              <a:spcAft>
                <a:spcPts val="0"/>
              </a:spcAft>
              <a:buClr>
                <a:schemeClr val="dk2"/>
              </a:buClr>
              <a:buSzPts val="4200"/>
              <a:buNone/>
              <a:defRPr sz="4200">
                <a:solidFill>
                  <a:schemeClr val="dk2"/>
                </a:solidFill>
              </a:defRPr>
            </a:lvl5pPr>
            <a:lvl6pPr lvl="5" algn="ctr" rtl="0">
              <a:spcBef>
                <a:spcPts val="0"/>
              </a:spcBef>
              <a:spcAft>
                <a:spcPts val="0"/>
              </a:spcAft>
              <a:buClr>
                <a:schemeClr val="dk2"/>
              </a:buClr>
              <a:buSzPts val="4200"/>
              <a:buNone/>
              <a:defRPr sz="4200">
                <a:solidFill>
                  <a:schemeClr val="dk2"/>
                </a:solidFill>
              </a:defRPr>
            </a:lvl6pPr>
            <a:lvl7pPr lvl="6" algn="ctr" rtl="0">
              <a:spcBef>
                <a:spcPts val="0"/>
              </a:spcBef>
              <a:spcAft>
                <a:spcPts val="0"/>
              </a:spcAft>
              <a:buClr>
                <a:schemeClr val="dk2"/>
              </a:buClr>
              <a:buSzPts val="4200"/>
              <a:buNone/>
              <a:defRPr sz="4200">
                <a:solidFill>
                  <a:schemeClr val="dk2"/>
                </a:solidFill>
              </a:defRPr>
            </a:lvl7pPr>
            <a:lvl8pPr lvl="7" algn="ctr" rtl="0">
              <a:spcBef>
                <a:spcPts val="0"/>
              </a:spcBef>
              <a:spcAft>
                <a:spcPts val="0"/>
              </a:spcAft>
              <a:buClr>
                <a:schemeClr val="dk2"/>
              </a:buClr>
              <a:buSzPts val="4200"/>
              <a:buNone/>
              <a:defRPr sz="4200">
                <a:solidFill>
                  <a:schemeClr val="dk2"/>
                </a:solidFill>
              </a:defRPr>
            </a:lvl8pPr>
            <a:lvl9pPr lvl="8" algn="ctr" rtl="0">
              <a:spcBef>
                <a:spcPts val="0"/>
              </a:spcBef>
              <a:spcAft>
                <a:spcPts val="0"/>
              </a:spcAft>
              <a:buClr>
                <a:schemeClr val="dk2"/>
              </a:buClr>
              <a:buSzPts val="4200"/>
              <a:buNone/>
              <a:defRPr sz="4200">
                <a:solidFill>
                  <a:schemeClr val="dk2"/>
                </a:solidFill>
              </a:defRPr>
            </a:lvl9pPr>
          </a:lstStyle>
          <a:p>
            <a:endParaRPr/>
          </a:p>
        </p:txBody>
      </p:sp>
      <p:sp>
        <p:nvSpPr>
          <p:cNvPr id="94" name="Shape 94"/>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5" name="Shape 95"/>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96" name="Shape 9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7"/>
        <p:cNvGrpSpPr/>
        <p:nvPr/>
      </p:nvGrpSpPr>
      <p:grpSpPr>
        <a:xfrm>
          <a:off x="0" y="0"/>
          <a:ext cx="0" cy="0"/>
          <a:chOff x="0" y="0"/>
          <a:chExt cx="0" cy="0"/>
        </a:xfrm>
      </p:grpSpPr>
      <p:sp>
        <p:nvSpPr>
          <p:cNvPr id="98" name="Shape 98"/>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 name="Shape 99"/>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 name="Shape 10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lstStyle>
            <a:lvl1pPr marL="457200" lvl="0" indent="-228600" rtl="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101" name="Shape 10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102"/>
        <p:cNvGrpSpPr/>
        <p:nvPr/>
      </p:nvGrpSpPr>
      <p:grpSpPr>
        <a:xfrm>
          <a:off x="0" y="0"/>
          <a:ext cx="0" cy="0"/>
          <a:chOff x="0" y="0"/>
          <a:chExt cx="0" cy="0"/>
        </a:xfrm>
      </p:grpSpPr>
      <p:sp>
        <p:nvSpPr>
          <p:cNvPr id="103" name="Shape 103"/>
          <p:cNvSpPr txBox="1">
            <a:spLocks noGrp="1"/>
          </p:cNvSpPr>
          <p:nvPr>
            <p:ph type="title"/>
          </p:nvPr>
        </p:nvSpPr>
        <p:spPr>
          <a:xfrm>
            <a:off x="475500" y="1258525"/>
            <a:ext cx="8222100" cy="19635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12000"/>
              <a:buNone/>
              <a:defRPr sz="12000">
                <a:solidFill>
                  <a:schemeClr val="dk2"/>
                </a:solidFill>
              </a:defRPr>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endParaRPr/>
          </a:p>
        </p:txBody>
      </p:sp>
      <p:sp>
        <p:nvSpPr>
          <p:cNvPr id="104" name="Shape 104"/>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05" name="Shape 10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106"/>
        <p:cNvGrpSpPr/>
        <p:nvPr/>
      </p:nvGrpSpPr>
      <p:grpSpPr>
        <a:xfrm>
          <a:off x="0" y="0"/>
          <a:ext cx="0" cy="0"/>
          <a:chOff x="0" y="0"/>
          <a:chExt cx="0" cy="0"/>
        </a:xfrm>
      </p:grpSpPr>
      <p:sp>
        <p:nvSpPr>
          <p:cNvPr id="107" name="Shape 10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Shape 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0"/>
        <p:cNvGrpSpPr/>
        <p:nvPr/>
      </p:nvGrpSpPr>
      <p:grpSpPr>
        <a:xfrm>
          <a:off x="0" y="0"/>
          <a:ext cx="0" cy="0"/>
          <a:chOff x="0" y="0"/>
          <a:chExt cx="0" cy="0"/>
        </a:xfrm>
      </p:grpSpPr>
      <p:sp>
        <p:nvSpPr>
          <p:cNvPr id="51" name="Shape 5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52" name="Shape 52"/>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lstStyle>
            <a:lvl1pPr marL="457200" lvl="0" indent="-3429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rtl="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53" name="Shape 53"/>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lt2"/>
                </a:solidFill>
                <a:latin typeface="Roboto"/>
                <a:ea typeface="Roboto"/>
                <a:cs typeface="Roboto"/>
                <a:sym typeface="Roboto"/>
              </a:defRPr>
            </a:lvl1pPr>
            <a:lvl2pPr lvl="1" algn="r" rtl="0">
              <a:buNone/>
              <a:defRPr sz="1000">
                <a:solidFill>
                  <a:schemeClr val="lt2"/>
                </a:solidFill>
                <a:latin typeface="Roboto"/>
                <a:ea typeface="Roboto"/>
                <a:cs typeface="Roboto"/>
                <a:sym typeface="Roboto"/>
              </a:defRPr>
            </a:lvl2pPr>
            <a:lvl3pPr lvl="2" algn="r" rtl="0">
              <a:buNone/>
              <a:defRPr sz="1000">
                <a:solidFill>
                  <a:schemeClr val="lt2"/>
                </a:solidFill>
                <a:latin typeface="Roboto"/>
                <a:ea typeface="Roboto"/>
                <a:cs typeface="Roboto"/>
                <a:sym typeface="Roboto"/>
              </a:defRPr>
            </a:lvl3pPr>
            <a:lvl4pPr lvl="3" algn="r" rtl="0">
              <a:buNone/>
              <a:defRPr sz="1000">
                <a:solidFill>
                  <a:schemeClr val="lt2"/>
                </a:solidFill>
                <a:latin typeface="Roboto"/>
                <a:ea typeface="Roboto"/>
                <a:cs typeface="Roboto"/>
                <a:sym typeface="Roboto"/>
              </a:defRPr>
            </a:lvl4pPr>
            <a:lvl5pPr lvl="4" algn="r" rtl="0">
              <a:buNone/>
              <a:defRPr sz="1000">
                <a:solidFill>
                  <a:schemeClr val="lt2"/>
                </a:solidFill>
                <a:latin typeface="Roboto"/>
                <a:ea typeface="Roboto"/>
                <a:cs typeface="Roboto"/>
                <a:sym typeface="Roboto"/>
              </a:defRPr>
            </a:lvl5pPr>
            <a:lvl6pPr lvl="5" algn="r" rtl="0">
              <a:buNone/>
              <a:defRPr sz="1000">
                <a:solidFill>
                  <a:schemeClr val="lt2"/>
                </a:solidFill>
                <a:latin typeface="Roboto"/>
                <a:ea typeface="Roboto"/>
                <a:cs typeface="Roboto"/>
                <a:sym typeface="Roboto"/>
              </a:defRPr>
            </a:lvl6pPr>
            <a:lvl7pPr lvl="6" algn="r" rtl="0">
              <a:buNone/>
              <a:defRPr sz="1000">
                <a:solidFill>
                  <a:schemeClr val="lt2"/>
                </a:solidFill>
                <a:latin typeface="Roboto"/>
                <a:ea typeface="Roboto"/>
                <a:cs typeface="Roboto"/>
                <a:sym typeface="Roboto"/>
              </a:defRPr>
            </a:lvl7pPr>
            <a:lvl8pPr lvl="7" algn="r" rtl="0">
              <a:buNone/>
              <a:defRPr sz="1000">
                <a:solidFill>
                  <a:schemeClr val="lt2"/>
                </a:solidFill>
                <a:latin typeface="Roboto"/>
                <a:ea typeface="Roboto"/>
                <a:cs typeface="Roboto"/>
                <a:sym typeface="Roboto"/>
              </a:defRPr>
            </a:lvl8pPr>
            <a:lvl9pPr lvl="8" algn="r" rtl="0">
              <a:buNone/>
              <a:defRPr sz="1000">
                <a:solidFill>
                  <a:schemeClr val="lt2"/>
                </a:solidFill>
                <a:latin typeface="Roboto"/>
                <a:ea typeface="Roboto"/>
                <a:cs typeface="Roboto"/>
                <a:sym typeface="Roboto"/>
              </a:defRPr>
            </a:lvl9pPr>
          </a:lstStyle>
          <a:p>
            <a:pPr marL="0" lvl="0" indent="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hyperlink" Target="https://www.zillow.com/research/data/" TargetMode="External"/><Relationship Id="rId2" Type="http://schemas.openxmlformats.org/officeDocument/2006/relationships/notesSlide" Target="../notesSlides/notesSlide19.xml"/><Relationship Id="rId1" Type="http://schemas.openxmlformats.org/officeDocument/2006/relationships/slideLayout" Target="../slideLayouts/slideLayout16.xml"/><Relationship Id="rId5" Type="http://schemas.openxmlformats.org/officeDocument/2006/relationships/hyperlink" Target="https://www.bea.gov/itable/iTable.cfm?ReqID=70&amp;step=1#reqid=70&amp;step=1&amp;isuri=1" TargetMode="External"/><Relationship Id="rId4" Type="http://schemas.openxmlformats.org/officeDocument/2006/relationships/hyperlink" Target="https://www.kaggle.com/jayrav13/unemployment-by-county-u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p:cNvGrpSpPr/>
        <p:nvPr/>
      </p:nvGrpSpPr>
      <p:grpSpPr>
        <a:xfrm>
          <a:off x="0" y="0"/>
          <a:ext cx="0" cy="0"/>
          <a:chOff x="0" y="0"/>
          <a:chExt cx="0" cy="0"/>
        </a:xfrm>
      </p:grpSpPr>
      <p:sp>
        <p:nvSpPr>
          <p:cNvPr id="112" name="Shape 112"/>
          <p:cNvSpPr txBox="1">
            <a:spLocks noGrp="1"/>
          </p:cNvSpPr>
          <p:nvPr>
            <p:ph type="ctrTitle"/>
          </p:nvPr>
        </p:nvSpPr>
        <p:spPr>
          <a:xfrm>
            <a:off x="-47400" y="117775"/>
            <a:ext cx="9297000" cy="615000"/>
          </a:xfrm>
          <a:prstGeom prst="rect">
            <a:avLst/>
          </a:prstGeom>
        </p:spPr>
        <p:txBody>
          <a:bodyPr spcFirstLastPara="1" wrap="square" lIns="91425" tIns="91425" rIns="91425" bIns="91425" anchor="b" anchorCtr="0">
            <a:noAutofit/>
          </a:bodyPr>
          <a:lstStyle/>
          <a:p>
            <a:pPr marL="0" lvl="0" indent="0" algn="l">
              <a:spcBef>
                <a:spcPts val="0"/>
              </a:spcBef>
              <a:spcAft>
                <a:spcPts val="0"/>
              </a:spcAft>
              <a:buNone/>
            </a:pPr>
            <a:r>
              <a:rPr lang="en" sz="3600">
                <a:solidFill>
                  <a:srgbClr val="000000"/>
                </a:solidFill>
                <a:latin typeface="Roboto"/>
                <a:ea typeface="Roboto"/>
                <a:cs typeface="Roboto"/>
                <a:sym typeface="Roboto"/>
              </a:rPr>
              <a:t>Analyzing and predicting the Housing Market</a:t>
            </a:r>
            <a:endParaRPr sz="3600">
              <a:solidFill>
                <a:srgbClr val="000000"/>
              </a:solidFill>
            </a:endParaRPr>
          </a:p>
        </p:txBody>
      </p:sp>
      <p:sp>
        <p:nvSpPr>
          <p:cNvPr id="113" name="Shape 113"/>
          <p:cNvSpPr txBox="1">
            <a:spLocks noGrp="1"/>
          </p:cNvSpPr>
          <p:nvPr>
            <p:ph type="subTitle" idx="1"/>
          </p:nvPr>
        </p:nvSpPr>
        <p:spPr>
          <a:xfrm>
            <a:off x="-3109525" y="808975"/>
            <a:ext cx="8520600" cy="7926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
              <a:t>Sai Prasanth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117"/>
        <p:cNvGrpSpPr/>
        <p:nvPr/>
      </p:nvGrpSpPr>
      <p:grpSpPr>
        <a:xfrm>
          <a:off x="0" y="0"/>
          <a:ext cx="0" cy="0"/>
          <a:chOff x="0" y="0"/>
          <a:chExt cx="0" cy="0"/>
        </a:xfrm>
      </p:grpSpPr>
      <p:sp>
        <p:nvSpPr>
          <p:cNvPr id="118" name="Shape 118"/>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Motivation</a:t>
            </a:r>
            <a:endParaRPr sz="3000">
              <a:latin typeface="Times New Roman"/>
              <a:ea typeface="Times New Roman"/>
              <a:cs typeface="Times New Roman"/>
              <a:sym typeface="Times New Roman"/>
            </a:endParaRPr>
          </a:p>
        </p:txBody>
      </p:sp>
      <p:sp>
        <p:nvSpPr>
          <p:cNvPr id="119" name="Shape 119"/>
          <p:cNvSpPr txBox="1">
            <a:spLocks noGrp="1"/>
          </p:cNvSpPr>
          <p:nvPr>
            <p:ph type="body" idx="4294967295"/>
          </p:nvPr>
        </p:nvSpPr>
        <p:spPr>
          <a:xfrm>
            <a:off x="319500" y="1004675"/>
            <a:ext cx="8222100" cy="2710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solidFill>
                  <a:srgbClr val="000000"/>
                </a:solidFill>
                <a:latin typeface="Times New Roman"/>
                <a:ea typeface="Times New Roman"/>
                <a:cs typeface="Times New Roman"/>
                <a:sym typeface="Times New Roman"/>
              </a:rPr>
              <a:t>$24 Trillion US Dollars and the only practical alternative to stocks</a:t>
            </a:r>
            <a:endParaRPr>
              <a:solidFill>
                <a:srgbClr val="000000"/>
              </a:solidFill>
              <a:latin typeface="Times New Roman"/>
              <a:ea typeface="Times New Roman"/>
              <a:cs typeface="Times New Roman"/>
              <a:sym typeface="Times New Roman"/>
            </a:endParaRPr>
          </a:p>
          <a:p>
            <a:pPr marL="0" lvl="0" indent="0" rtl="0">
              <a:spcBef>
                <a:spcPts val="1600"/>
              </a:spcBef>
              <a:spcAft>
                <a:spcPts val="0"/>
              </a:spcAft>
              <a:buNone/>
            </a:pPr>
            <a:endParaRPr>
              <a:solidFill>
                <a:srgbClr val="000000"/>
              </a:solidFill>
              <a:latin typeface="Times New Roman"/>
              <a:ea typeface="Times New Roman"/>
              <a:cs typeface="Times New Roman"/>
              <a:sym typeface="Times New Roman"/>
            </a:endParaRPr>
          </a:p>
          <a:p>
            <a:pPr marL="0" lvl="0" indent="0" rtl="0">
              <a:spcBef>
                <a:spcPts val="1600"/>
              </a:spcBef>
              <a:spcAft>
                <a:spcPts val="1600"/>
              </a:spcAft>
              <a:buNone/>
            </a:pPr>
            <a:endParaRPr>
              <a:solidFill>
                <a:srgbClr val="000000"/>
              </a:solidFill>
              <a:latin typeface="Times New Roman"/>
              <a:ea typeface="Times New Roman"/>
              <a:cs typeface="Times New Roman"/>
              <a:sym typeface="Times New Roman"/>
            </a:endParaRPr>
          </a:p>
        </p:txBody>
      </p:sp>
      <p:pic>
        <p:nvPicPr>
          <p:cNvPr id="122" name="Shape 122"/>
          <p:cNvPicPr preferRelativeResize="0"/>
          <p:nvPr/>
        </p:nvPicPr>
        <p:blipFill>
          <a:blip r:embed="rId3">
            <a:alphaModFix/>
          </a:blip>
          <a:stretch>
            <a:fillRect/>
          </a:stretch>
        </p:blipFill>
        <p:spPr>
          <a:xfrm>
            <a:off x="1256425" y="1556425"/>
            <a:ext cx="6390315" cy="2841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126"/>
        <p:cNvGrpSpPr/>
        <p:nvPr/>
      </p:nvGrpSpPr>
      <p:grpSpPr>
        <a:xfrm>
          <a:off x="0" y="0"/>
          <a:ext cx="0" cy="0"/>
          <a:chOff x="0" y="0"/>
          <a:chExt cx="0" cy="0"/>
        </a:xfrm>
      </p:grpSpPr>
      <p:sp>
        <p:nvSpPr>
          <p:cNvPr id="127" name="Shape 127"/>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Agenda</a:t>
            </a:r>
            <a:endParaRPr sz="3000">
              <a:latin typeface="Times New Roman"/>
              <a:ea typeface="Times New Roman"/>
              <a:cs typeface="Times New Roman"/>
              <a:sym typeface="Times New Roman"/>
            </a:endParaRPr>
          </a:p>
        </p:txBody>
      </p:sp>
      <p:sp>
        <p:nvSpPr>
          <p:cNvPr id="128" name="Shape 128"/>
          <p:cNvSpPr txBox="1">
            <a:spLocks noGrp="1"/>
          </p:cNvSpPr>
          <p:nvPr>
            <p:ph type="body" idx="4294967295"/>
          </p:nvPr>
        </p:nvSpPr>
        <p:spPr>
          <a:xfrm>
            <a:off x="319500" y="1004675"/>
            <a:ext cx="8222100" cy="2710200"/>
          </a:xfrm>
          <a:prstGeom prst="rect">
            <a:avLst/>
          </a:prstGeom>
        </p:spPr>
        <p:txBody>
          <a:bodyPr spcFirstLastPara="1" wrap="square" lIns="91425" tIns="91425" rIns="91425" bIns="91425" anchor="t" anchorCtr="0">
            <a:noAutofit/>
          </a:bodyPr>
          <a:lstStyle/>
          <a:p>
            <a:pPr marL="457200" lvl="0" indent="-381000" rtl="0">
              <a:spcBef>
                <a:spcPts val="0"/>
              </a:spcBef>
              <a:spcAft>
                <a:spcPts val="0"/>
              </a:spcAft>
              <a:buClr>
                <a:srgbClr val="000000"/>
              </a:buClr>
              <a:buSzPts val="2400"/>
              <a:buFont typeface="Times New Roman"/>
              <a:buChar char="●"/>
            </a:pPr>
            <a:r>
              <a:rPr lang="en" sz="2400">
                <a:solidFill>
                  <a:srgbClr val="000000"/>
                </a:solidFill>
                <a:latin typeface="Times New Roman"/>
                <a:ea typeface="Times New Roman"/>
                <a:cs typeface="Times New Roman"/>
                <a:sym typeface="Times New Roman"/>
              </a:rPr>
              <a:t>Introduction</a:t>
            </a:r>
            <a:endParaRPr sz="2400">
              <a:solidFill>
                <a:srgbClr val="000000"/>
              </a:solidFill>
              <a:latin typeface="Times New Roman"/>
              <a:ea typeface="Times New Roman"/>
              <a:cs typeface="Times New Roman"/>
              <a:sym typeface="Times New Roman"/>
            </a:endParaRPr>
          </a:p>
          <a:p>
            <a:pPr marL="457200" lvl="0" indent="-381000" rtl="0">
              <a:spcBef>
                <a:spcPts val="0"/>
              </a:spcBef>
              <a:spcAft>
                <a:spcPts val="0"/>
              </a:spcAft>
              <a:buClr>
                <a:srgbClr val="000000"/>
              </a:buClr>
              <a:buSzPts val="2400"/>
              <a:buFont typeface="Times New Roman"/>
              <a:buChar char="●"/>
            </a:pPr>
            <a:r>
              <a:rPr lang="en" sz="2400">
                <a:solidFill>
                  <a:srgbClr val="000000"/>
                </a:solidFill>
                <a:latin typeface="Times New Roman"/>
                <a:ea typeface="Times New Roman"/>
                <a:cs typeface="Times New Roman"/>
                <a:sym typeface="Times New Roman"/>
              </a:rPr>
              <a:t>Visualizations</a:t>
            </a:r>
            <a:endParaRPr sz="2400">
              <a:solidFill>
                <a:srgbClr val="000000"/>
              </a:solidFill>
              <a:latin typeface="Times New Roman"/>
              <a:ea typeface="Times New Roman"/>
              <a:cs typeface="Times New Roman"/>
              <a:sym typeface="Times New Roman"/>
            </a:endParaRPr>
          </a:p>
          <a:p>
            <a:pPr marL="457200" lvl="0" indent="-381000" rtl="0">
              <a:spcBef>
                <a:spcPts val="0"/>
              </a:spcBef>
              <a:spcAft>
                <a:spcPts val="0"/>
              </a:spcAft>
              <a:buClr>
                <a:srgbClr val="000000"/>
              </a:buClr>
              <a:buSzPts val="2400"/>
              <a:buFont typeface="Times New Roman"/>
              <a:buChar char="●"/>
            </a:pPr>
            <a:r>
              <a:rPr lang="en" sz="2400">
                <a:solidFill>
                  <a:srgbClr val="000000"/>
                </a:solidFill>
                <a:latin typeface="Times New Roman"/>
                <a:ea typeface="Times New Roman"/>
                <a:cs typeface="Times New Roman"/>
                <a:sym typeface="Times New Roman"/>
              </a:rPr>
              <a:t>Modeling</a:t>
            </a:r>
            <a:endParaRPr sz="2400">
              <a:solidFill>
                <a:srgbClr val="000000"/>
              </a:solidFill>
              <a:latin typeface="Times New Roman"/>
              <a:ea typeface="Times New Roman"/>
              <a:cs typeface="Times New Roman"/>
              <a:sym typeface="Times New Roman"/>
            </a:endParaRPr>
          </a:p>
          <a:p>
            <a:pPr marL="457200" lvl="0" indent="-381000" rtl="0">
              <a:spcBef>
                <a:spcPts val="0"/>
              </a:spcBef>
              <a:spcAft>
                <a:spcPts val="0"/>
              </a:spcAft>
              <a:buClr>
                <a:srgbClr val="000000"/>
              </a:buClr>
              <a:buSzPts val="2400"/>
              <a:buFont typeface="Times New Roman"/>
              <a:buChar char="●"/>
            </a:pPr>
            <a:r>
              <a:rPr lang="en" sz="2400">
                <a:solidFill>
                  <a:srgbClr val="000000"/>
                </a:solidFill>
                <a:latin typeface="Times New Roman"/>
                <a:ea typeface="Times New Roman"/>
                <a:cs typeface="Times New Roman"/>
                <a:sym typeface="Times New Roman"/>
              </a:rPr>
              <a:t>Conclusion</a:t>
            </a:r>
            <a:endParaRPr sz="2400">
              <a:solidFill>
                <a:srgbClr val="000000"/>
              </a:solidFill>
              <a:latin typeface="Times New Roman"/>
              <a:ea typeface="Times New Roman"/>
              <a:cs typeface="Times New Roman"/>
              <a:sym typeface="Times New Roman"/>
            </a:endParaRPr>
          </a:p>
        </p:txBody>
      </p:sp>
      <p:pic>
        <p:nvPicPr>
          <p:cNvPr id="131" name="Shape 131"/>
          <p:cNvPicPr preferRelativeResize="0"/>
          <p:nvPr/>
        </p:nvPicPr>
        <p:blipFill>
          <a:blip r:embed="rId3">
            <a:alphaModFix/>
          </a:blip>
          <a:stretch>
            <a:fillRect/>
          </a:stretch>
        </p:blipFill>
        <p:spPr>
          <a:xfrm>
            <a:off x="5432549" y="913800"/>
            <a:ext cx="3717650" cy="34536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135"/>
        <p:cNvGrpSpPr/>
        <p:nvPr/>
      </p:nvGrpSpPr>
      <p:grpSpPr>
        <a:xfrm>
          <a:off x="0" y="0"/>
          <a:ext cx="0" cy="0"/>
          <a:chOff x="0" y="0"/>
          <a:chExt cx="0" cy="0"/>
        </a:xfrm>
      </p:grpSpPr>
      <p:sp>
        <p:nvSpPr>
          <p:cNvPr id="136" name="Shape 136"/>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Zillow data</a:t>
            </a:r>
            <a:endParaRPr sz="3000">
              <a:latin typeface="Times New Roman"/>
              <a:ea typeface="Times New Roman"/>
              <a:cs typeface="Times New Roman"/>
              <a:sym typeface="Times New Roman"/>
            </a:endParaRPr>
          </a:p>
        </p:txBody>
      </p:sp>
      <p:sp>
        <p:nvSpPr>
          <p:cNvPr id="137" name="Shape 137"/>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0"/>
              </a:spcAft>
              <a:buNone/>
            </a:pPr>
            <a:r>
              <a:rPr lang="en">
                <a:solidFill>
                  <a:srgbClr val="000000"/>
                </a:solidFill>
                <a:latin typeface="Times New Roman"/>
                <a:ea typeface="Times New Roman"/>
                <a:cs typeface="Times New Roman"/>
                <a:sym typeface="Times New Roman"/>
              </a:rPr>
              <a:t>Home prices and rents of all nearly 15,000 zip codes since 1996 and 2010 respectively</a:t>
            </a:r>
            <a:endParaRPr>
              <a:solidFill>
                <a:srgbClr val="000000"/>
              </a:solidFill>
              <a:latin typeface="Times New Roman"/>
              <a:ea typeface="Times New Roman"/>
              <a:cs typeface="Times New Roman"/>
              <a:sym typeface="Times New Roman"/>
            </a:endParaRPr>
          </a:p>
        </p:txBody>
      </p:sp>
      <p:pic>
        <p:nvPicPr>
          <p:cNvPr id="140" name="Shape 140"/>
          <p:cNvPicPr preferRelativeResize="0"/>
          <p:nvPr/>
        </p:nvPicPr>
        <p:blipFill>
          <a:blip r:embed="rId3">
            <a:alphaModFix/>
          </a:blip>
          <a:stretch>
            <a:fillRect/>
          </a:stretch>
        </p:blipFill>
        <p:spPr>
          <a:xfrm>
            <a:off x="438150" y="1757363"/>
            <a:ext cx="8572500" cy="1933575"/>
          </a:xfrm>
          <a:prstGeom prst="rect">
            <a:avLst/>
          </a:prstGeom>
          <a:noFill/>
          <a:ln>
            <a:noFill/>
          </a:ln>
        </p:spPr>
      </p:pic>
      <p:sp>
        <p:nvSpPr>
          <p:cNvPr id="141" name="Shape 141"/>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2" name="Shape 142"/>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143" name="Shape 143"/>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 name="Shape 144"/>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145" name="Shape 145"/>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6" name="Shape 146"/>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147" name="Shape 147"/>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 name="Shape 148"/>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152"/>
        <p:cNvGrpSpPr/>
        <p:nvPr/>
      </p:nvGrpSpPr>
      <p:grpSpPr>
        <a:xfrm>
          <a:off x="0" y="0"/>
          <a:ext cx="0" cy="0"/>
          <a:chOff x="0" y="0"/>
          <a:chExt cx="0" cy="0"/>
        </a:xfrm>
      </p:grpSpPr>
      <p:sp>
        <p:nvSpPr>
          <p:cNvPr id="153" name="Shape 153"/>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Analysis plan</a:t>
            </a:r>
            <a:endParaRPr sz="3000">
              <a:latin typeface="Times New Roman"/>
              <a:ea typeface="Times New Roman"/>
              <a:cs typeface="Times New Roman"/>
              <a:sym typeface="Times New Roman"/>
            </a:endParaRPr>
          </a:p>
        </p:txBody>
      </p:sp>
      <p:sp>
        <p:nvSpPr>
          <p:cNvPr id="156" name="Shape 156"/>
          <p:cNvSpPr/>
          <p:nvPr/>
        </p:nvSpPr>
        <p:spPr>
          <a:xfrm>
            <a:off x="38825" y="1178225"/>
            <a:ext cx="2328300" cy="1461000"/>
          </a:xfrm>
          <a:prstGeom prst="downArrow">
            <a:avLst>
              <a:gd name="adj1" fmla="val 50000"/>
              <a:gd name="adj2" fmla="val 51956"/>
            </a:avLst>
          </a:prstGeom>
          <a:solidFill>
            <a:srgbClr val="4FC3F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r>
              <a:rPr lang="en" sz="1300"/>
              <a:t>Business understanding of the project</a:t>
            </a:r>
            <a:endParaRPr sz="1300"/>
          </a:p>
        </p:txBody>
      </p:sp>
      <p:sp>
        <p:nvSpPr>
          <p:cNvPr id="157" name="Shape 157"/>
          <p:cNvSpPr/>
          <p:nvPr/>
        </p:nvSpPr>
        <p:spPr>
          <a:xfrm>
            <a:off x="415369" y="2598877"/>
            <a:ext cx="8572800" cy="255900"/>
          </a:xfrm>
          <a:prstGeom prst="rightArrow">
            <a:avLst>
              <a:gd name="adj1" fmla="val 50000"/>
              <a:gd name="adj2" fmla="val 50000"/>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 name="Shape 158"/>
          <p:cNvSpPr/>
          <p:nvPr/>
        </p:nvSpPr>
        <p:spPr>
          <a:xfrm>
            <a:off x="1339329" y="2854800"/>
            <a:ext cx="2199000" cy="1442400"/>
          </a:xfrm>
          <a:prstGeom prst="upArrow">
            <a:avLst>
              <a:gd name="adj1" fmla="val 50000"/>
              <a:gd name="adj2" fmla="val 52883"/>
            </a:avLst>
          </a:prstGeom>
          <a:solidFill>
            <a:schemeClr val="accent5"/>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r>
              <a:rPr lang="en" sz="1300"/>
              <a:t>Analyze % of null values, descriptive statistics</a:t>
            </a:r>
            <a:endParaRPr sz="1300"/>
          </a:p>
          <a:p>
            <a:pPr marL="0" lvl="0" indent="0" rtl="0">
              <a:spcBef>
                <a:spcPts val="0"/>
              </a:spcBef>
              <a:spcAft>
                <a:spcPts val="0"/>
              </a:spcAft>
              <a:buNone/>
            </a:pPr>
            <a:endParaRPr sz="1300"/>
          </a:p>
        </p:txBody>
      </p:sp>
      <p:sp>
        <p:nvSpPr>
          <p:cNvPr id="159" name="Shape 159"/>
          <p:cNvSpPr/>
          <p:nvPr/>
        </p:nvSpPr>
        <p:spPr>
          <a:xfrm>
            <a:off x="4188591" y="2854800"/>
            <a:ext cx="2199000" cy="1442400"/>
          </a:xfrm>
          <a:prstGeom prst="upArrow">
            <a:avLst>
              <a:gd name="adj1" fmla="val 50000"/>
              <a:gd name="adj2" fmla="val 52883"/>
            </a:avLst>
          </a:prstGeom>
          <a:solidFill>
            <a:srgbClr val="4FC3F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r>
              <a:rPr lang="en" sz="1300"/>
              <a:t>Create visualizations to understand the data</a:t>
            </a:r>
            <a:endParaRPr sz="1300"/>
          </a:p>
          <a:p>
            <a:pPr marL="0" lvl="0" indent="0" rtl="0">
              <a:spcBef>
                <a:spcPts val="0"/>
              </a:spcBef>
              <a:spcAft>
                <a:spcPts val="0"/>
              </a:spcAft>
              <a:buNone/>
            </a:pPr>
            <a:endParaRPr sz="1300"/>
          </a:p>
        </p:txBody>
      </p:sp>
      <p:sp>
        <p:nvSpPr>
          <p:cNvPr id="160" name="Shape 160"/>
          <p:cNvSpPr/>
          <p:nvPr/>
        </p:nvSpPr>
        <p:spPr>
          <a:xfrm>
            <a:off x="5326646" y="1178225"/>
            <a:ext cx="2585400" cy="1442400"/>
          </a:xfrm>
          <a:prstGeom prst="downArrow">
            <a:avLst>
              <a:gd name="adj1" fmla="val 50000"/>
              <a:gd name="adj2" fmla="val 51956"/>
            </a:avLst>
          </a:prstGeom>
          <a:solidFill>
            <a:srgbClr val="4FC3F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r>
              <a:rPr lang="en" sz="1300"/>
              <a:t>Brainstorm predictors and search for relevant data or proxy data</a:t>
            </a:r>
            <a:endParaRPr sz="1300">
              <a:solidFill>
                <a:srgbClr val="000000"/>
              </a:solidFill>
            </a:endParaRPr>
          </a:p>
        </p:txBody>
      </p:sp>
      <p:sp>
        <p:nvSpPr>
          <p:cNvPr id="161" name="Shape 161"/>
          <p:cNvSpPr/>
          <p:nvPr/>
        </p:nvSpPr>
        <p:spPr>
          <a:xfrm>
            <a:off x="6818700" y="2854800"/>
            <a:ext cx="2199000" cy="1442400"/>
          </a:xfrm>
          <a:prstGeom prst="upArrow">
            <a:avLst>
              <a:gd name="adj1" fmla="val 50000"/>
              <a:gd name="adj2" fmla="val 52883"/>
            </a:avLst>
          </a:prstGeom>
          <a:solidFill>
            <a:schemeClr val="accent5"/>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r>
              <a:rPr lang="en" sz="1300"/>
              <a:t>Model the appropriate relationship</a:t>
            </a:r>
            <a:endParaRPr sz="1300"/>
          </a:p>
        </p:txBody>
      </p:sp>
      <p:sp>
        <p:nvSpPr>
          <p:cNvPr id="162" name="Shape 162"/>
          <p:cNvSpPr/>
          <p:nvPr/>
        </p:nvSpPr>
        <p:spPr>
          <a:xfrm>
            <a:off x="2554125" y="1178225"/>
            <a:ext cx="2585400" cy="1442400"/>
          </a:xfrm>
          <a:prstGeom prst="downArrow">
            <a:avLst>
              <a:gd name="adj1" fmla="val 50000"/>
              <a:gd name="adj2" fmla="val 51956"/>
            </a:avLst>
          </a:prstGeom>
          <a:solidFill>
            <a:srgbClr val="4FC3F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sz="1300"/>
          </a:p>
          <a:p>
            <a:pPr marL="0" lvl="0" indent="0" rtl="0">
              <a:spcBef>
                <a:spcPts val="0"/>
              </a:spcBef>
              <a:spcAft>
                <a:spcPts val="0"/>
              </a:spcAft>
              <a:buNone/>
            </a:pPr>
            <a:r>
              <a:rPr lang="en" sz="1300">
                <a:solidFill>
                  <a:srgbClr val="000000"/>
                </a:solidFill>
              </a:rPr>
              <a:t>Join, Calculate home value/rent for all house types, location</a:t>
            </a:r>
            <a:endParaRPr sz="1300">
              <a:solidFill>
                <a:srgbClr val="000000"/>
              </a:solidFill>
            </a:endParaRPr>
          </a:p>
          <a:p>
            <a:pPr marL="0" lvl="0" indent="0" rtl="0">
              <a:spcBef>
                <a:spcPts val="0"/>
              </a:spcBef>
              <a:spcAft>
                <a:spcPts val="0"/>
              </a:spcAft>
              <a:buNone/>
            </a:pPr>
            <a:endParaRPr sz="1300">
              <a:solidFill>
                <a:srgbClr val="000000"/>
              </a:solidFill>
            </a:endParaRPr>
          </a:p>
        </p:txBody>
      </p:sp>
      <p:sp>
        <p:nvSpPr>
          <p:cNvPr id="163" name="Shape 163"/>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 name="Shape 164"/>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165" name="Shape 165"/>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6" name="Shape 166"/>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167" name="Shape 167"/>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8" name="Shape 168"/>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169" name="Shape 169"/>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 name="Shape 170"/>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171" name="Shape 171"/>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2" name="Shape 172"/>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173" name="Shape 173"/>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 name="Shape 174"/>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175" name="Shape 175"/>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 name="Shape 176"/>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177" name="Shape 177"/>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8" name="Shape 178"/>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182"/>
        <p:cNvGrpSpPr/>
        <p:nvPr/>
      </p:nvGrpSpPr>
      <p:grpSpPr>
        <a:xfrm>
          <a:off x="0" y="0"/>
          <a:ext cx="0" cy="0"/>
          <a:chOff x="0" y="0"/>
          <a:chExt cx="0" cy="0"/>
        </a:xfrm>
      </p:grpSpPr>
      <p:sp>
        <p:nvSpPr>
          <p:cNvPr id="183" name="Shape 183"/>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Strategy</a:t>
            </a:r>
            <a:endParaRPr sz="3000">
              <a:latin typeface="Times New Roman"/>
              <a:ea typeface="Times New Roman"/>
              <a:cs typeface="Times New Roman"/>
              <a:sym typeface="Times New Roman"/>
            </a:endParaRPr>
          </a:p>
        </p:txBody>
      </p:sp>
      <p:sp>
        <p:nvSpPr>
          <p:cNvPr id="184" name="Shape 184"/>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p:txBody>
      </p:sp>
      <p:sp>
        <p:nvSpPr>
          <p:cNvPr id="187" name="Shape 187"/>
          <p:cNvSpPr txBox="1"/>
          <p:nvPr/>
        </p:nvSpPr>
        <p:spPr>
          <a:xfrm>
            <a:off x="1785250" y="1385750"/>
            <a:ext cx="1323300" cy="699000"/>
          </a:xfrm>
          <a:prstGeom prst="rect">
            <a:avLst/>
          </a:prstGeom>
          <a:solidFill>
            <a:srgbClr val="4FC3F7"/>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spcBef>
                <a:spcPts val="0"/>
              </a:spcBef>
              <a:spcAft>
                <a:spcPts val="0"/>
              </a:spcAft>
              <a:buNone/>
            </a:pPr>
            <a:r>
              <a:rPr lang="en"/>
              <a:t>Diff btw Rent and mortgage</a:t>
            </a:r>
            <a:endParaRPr/>
          </a:p>
        </p:txBody>
      </p:sp>
      <p:sp>
        <p:nvSpPr>
          <p:cNvPr id="188" name="Shape 188"/>
          <p:cNvSpPr txBox="1"/>
          <p:nvPr/>
        </p:nvSpPr>
        <p:spPr>
          <a:xfrm>
            <a:off x="1785250" y="2147750"/>
            <a:ext cx="1323300" cy="699000"/>
          </a:xfrm>
          <a:prstGeom prst="rect">
            <a:avLst/>
          </a:prstGeom>
          <a:solidFill>
            <a:srgbClr val="4FC3F7"/>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rtl="0">
              <a:spcBef>
                <a:spcPts val="0"/>
              </a:spcBef>
              <a:spcAft>
                <a:spcPts val="0"/>
              </a:spcAft>
              <a:buNone/>
            </a:pPr>
            <a:r>
              <a:rPr lang="en"/>
              <a:t>Growth in rental income</a:t>
            </a:r>
            <a:endParaRPr/>
          </a:p>
        </p:txBody>
      </p:sp>
      <p:sp>
        <p:nvSpPr>
          <p:cNvPr id="189" name="Shape 189"/>
          <p:cNvSpPr txBox="1"/>
          <p:nvPr/>
        </p:nvSpPr>
        <p:spPr>
          <a:xfrm>
            <a:off x="1785250" y="2909750"/>
            <a:ext cx="1323300" cy="699000"/>
          </a:xfrm>
          <a:prstGeom prst="rect">
            <a:avLst/>
          </a:prstGeom>
          <a:solidFill>
            <a:srgbClr val="4FC3F7"/>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rtl="0">
              <a:spcBef>
                <a:spcPts val="0"/>
              </a:spcBef>
              <a:spcAft>
                <a:spcPts val="0"/>
              </a:spcAft>
              <a:buNone/>
            </a:pPr>
            <a:r>
              <a:rPr lang="en"/>
              <a:t>Growth in home value</a:t>
            </a:r>
            <a:endParaRPr/>
          </a:p>
        </p:txBody>
      </p:sp>
      <p:cxnSp>
        <p:nvCxnSpPr>
          <p:cNvPr id="190" name="Shape 190"/>
          <p:cNvCxnSpPr>
            <a:stCxn id="187" idx="3"/>
          </p:cNvCxnSpPr>
          <p:nvPr/>
        </p:nvCxnSpPr>
        <p:spPr>
          <a:xfrm>
            <a:off x="3108550" y="1735250"/>
            <a:ext cx="1255500" cy="489300"/>
          </a:xfrm>
          <a:prstGeom prst="straightConnector1">
            <a:avLst/>
          </a:prstGeom>
          <a:noFill/>
          <a:ln w="9525" cap="flat" cmpd="sng">
            <a:solidFill>
              <a:schemeClr val="dk2"/>
            </a:solidFill>
            <a:prstDash val="solid"/>
            <a:round/>
            <a:headEnd type="none" w="med" len="med"/>
            <a:tailEnd type="triangle" w="med" len="med"/>
          </a:ln>
        </p:spPr>
      </p:cxnSp>
      <p:cxnSp>
        <p:nvCxnSpPr>
          <p:cNvPr id="191" name="Shape 191"/>
          <p:cNvCxnSpPr>
            <a:stCxn id="188" idx="3"/>
          </p:cNvCxnSpPr>
          <p:nvPr/>
        </p:nvCxnSpPr>
        <p:spPr>
          <a:xfrm rot="10800000" flipH="1">
            <a:off x="3108550" y="2496950"/>
            <a:ext cx="1223400" cy="300"/>
          </a:xfrm>
          <a:prstGeom prst="straightConnector1">
            <a:avLst/>
          </a:prstGeom>
          <a:noFill/>
          <a:ln w="9525" cap="flat" cmpd="sng">
            <a:solidFill>
              <a:schemeClr val="dk2"/>
            </a:solidFill>
            <a:prstDash val="solid"/>
            <a:round/>
            <a:headEnd type="none" w="med" len="med"/>
            <a:tailEnd type="triangle" w="med" len="med"/>
          </a:ln>
        </p:spPr>
      </p:cxnSp>
      <p:cxnSp>
        <p:nvCxnSpPr>
          <p:cNvPr id="192" name="Shape 192"/>
          <p:cNvCxnSpPr>
            <a:stCxn id="189" idx="3"/>
          </p:cNvCxnSpPr>
          <p:nvPr/>
        </p:nvCxnSpPr>
        <p:spPr>
          <a:xfrm rot="10800000" flipH="1">
            <a:off x="3108550" y="2819750"/>
            <a:ext cx="1298100" cy="439500"/>
          </a:xfrm>
          <a:prstGeom prst="straightConnector1">
            <a:avLst/>
          </a:prstGeom>
          <a:noFill/>
          <a:ln w="9525" cap="flat" cmpd="sng">
            <a:solidFill>
              <a:schemeClr val="dk2"/>
            </a:solidFill>
            <a:prstDash val="solid"/>
            <a:round/>
            <a:headEnd type="none" w="med" len="med"/>
            <a:tailEnd type="triangle" w="med" len="med"/>
          </a:ln>
        </p:spPr>
      </p:cxnSp>
      <p:cxnSp>
        <p:nvCxnSpPr>
          <p:cNvPr id="193" name="Shape 193"/>
          <p:cNvCxnSpPr>
            <a:stCxn id="194" idx="3"/>
          </p:cNvCxnSpPr>
          <p:nvPr/>
        </p:nvCxnSpPr>
        <p:spPr>
          <a:xfrm rot="10800000" flipH="1">
            <a:off x="5047004" y="2508000"/>
            <a:ext cx="1017600" cy="6900"/>
          </a:xfrm>
          <a:prstGeom prst="straightConnector1">
            <a:avLst/>
          </a:prstGeom>
          <a:noFill/>
          <a:ln w="9525" cap="flat" cmpd="sng">
            <a:solidFill>
              <a:schemeClr val="dk2"/>
            </a:solidFill>
            <a:prstDash val="solid"/>
            <a:round/>
            <a:headEnd type="none" w="med" len="med"/>
            <a:tailEnd type="triangle" w="med" len="med"/>
          </a:ln>
        </p:spPr>
      </p:cxnSp>
      <p:sp>
        <p:nvSpPr>
          <p:cNvPr id="195" name="Shape 195"/>
          <p:cNvSpPr txBox="1"/>
          <p:nvPr/>
        </p:nvSpPr>
        <p:spPr>
          <a:xfrm>
            <a:off x="6138825" y="2210425"/>
            <a:ext cx="1323300" cy="609300"/>
          </a:xfrm>
          <a:prstGeom prst="rect">
            <a:avLst/>
          </a:prstGeom>
          <a:solidFill>
            <a:srgbClr val="4FC3F7"/>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spcBef>
                <a:spcPts val="0"/>
              </a:spcBef>
              <a:spcAft>
                <a:spcPts val="0"/>
              </a:spcAft>
              <a:buNone/>
            </a:pPr>
            <a:r>
              <a:rPr lang="en"/>
              <a:t>       Profit</a:t>
            </a:r>
            <a:endParaRPr/>
          </a:p>
        </p:txBody>
      </p:sp>
      <p:pic>
        <p:nvPicPr>
          <p:cNvPr id="196" name="Shape 196"/>
          <p:cNvPicPr preferRelativeResize="0"/>
          <p:nvPr/>
        </p:nvPicPr>
        <p:blipFill>
          <a:blip r:embed="rId3">
            <a:alphaModFix/>
          </a:blip>
          <a:stretch>
            <a:fillRect/>
          </a:stretch>
        </p:blipFill>
        <p:spPr>
          <a:xfrm>
            <a:off x="4359750" y="2084750"/>
            <a:ext cx="804225" cy="804225"/>
          </a:xfrm>
          <a:prstGeom prst="rect">
            <a:avLst/>
          </a:prstGeom>
          <a:noFill/>
          <a:ln>
            <a:noFill/>
          </a:ln>
        </p:spPr>
      </p:pic>
      <p:sp>
        <p:nvSpPr>
          <p:cNvPr id="197" name="Shape 197"/>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8" name="Shape 198"/>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199" name="Shape 199"/>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0" name="Shape 200"/>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201" name="Shape 201"/>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2" name="Shape 202"/>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203" name="Shape 203"/>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4" name="Shape 204"/>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205" name="Shape 205"/>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6" name="Shape 206"/>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207" name="Shape 207"/>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8" name="Shape 208"/>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209" name="Shape 209"/>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0" name="Shape 210"/>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211" name="Shape 211"/>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2" name="Shape 212"/>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216"/>
        <p:cNvGrpSpPr/>
        <p:nvPr/>
      </p:nvGrpSpPr>
      <p:grpSpPr>
        <a:xfrm>
          <a:off x="0" y="0"/>
          <a:ext cx="0" cy="0"/>
          <a:chOff x="0" y="0"/>
          <a:chExt cx="0" cy="0"/>
        </a:xfrm>
      </p:grpSpPr>
      <p:sp>
        <p:nvSpPr>
          <p:cNvPr id="217" name="Shape 217"/>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Big markets may be cheap</a:t>
            </a:r>
            <a:endParaRPr sz="3000">
              <a:latin typeface="Times New Roman"/>
              <a:ea typeface="Times New Roman"/>
              <a:cs typeface="Times New Roman"/>
              <a:sym typeface="Times New Roman"/>
            </a:endParaRPr>
          </a:p>
        </p:txBody>
      </p:sp>
      <p:sp>
        <p:nvSpPr>
          <p:cNvPr id="218" name="Shape 218"/>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p:txBody>
      </p:sp>
      <p:pic>
        <p:nvPicPr>
          <p:cNvPr id="221" name="Shape 221"/>
          <p:cNvPicPr preferRelativeResize="0"/>
          <p:nvPr/>
        </p:nvPicPr>
        <p:blipFill>
          <a:blip r:embed="rId3">
            <a:alphaModFix/>
          </a:blip>
          <a:stretch>
            <a:fillRect/>
          </a:stretch>
        </p:blipFill>
        <p:spPr>
          <a:xfrm>
            <a:off x="2109600" y="1080875"/>
            <a:ext cx="4916307" cy="3387925"/>
          </a:xfrm>
          <a:prstGeom prst="rect">
            <a:avLst/>
          </a:prstGeom>
          <a:noFill/>
          <a:ln>
            <a:noFill/>
          </a:ln>
        </p:spPr>
      </p:pic>
      <p:sp>
        <p:nvSpPr>
          <p:cNvPr id="222" name="Shape 222"/>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3" name="Shape 223"/>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224" name="Shape 224"/>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5" name="Shape 225"/>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226" name="Shape 226"/>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7" name="Shape 227"/>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228" name="Shape 228"/>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9" name="Shape 229"/>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230" name="Shape 230"/>
          <p:cNvSpPr/>
          <p:nvPr/>
        </p:nvSpPr>
        <p:spPr>
          <a:xfrm>
            <a:off x="62240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1" name="Shape 231"/>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Visualizations</a:t>
            </a:r>
            <a:endParaRPr sz="900">
              <a:solidFill>
                <a:srgbClr val="FFFFFF"/>
              </a:solidFill>
            </a:endParaRPr>
          </a:p>
        </p:txBody>
      </p:sp>
      <p:sp>
        <p:nvSpPr>
          <p:cNvPr id="232" name="Shape 232"/>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3" name="Shape 233"/>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234" name="Shape 234"/>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5" name="Shape 235"/>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236" name="Shape 236"/>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7" name="Shape 237"/>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241"/>
        <p:cNvGrpSpPr/>
        <p:nvPr/>
      </p:nvGrpSpPr>
      <p:grpSpPr>
        <a:xfrm>
          <a:off x="0" y="0"/>
          <a:ext cx="0" cy="0"/>
          <a:chOff x="0" y="0"/>
          <a:chExt cx="0" cy="0"/>
        </a:xfrm>
      </p:grpSpPr>
      <p:sp>
        <p:nvSpPr>
          <p:cNvPr id="242" name="Shape 242"/>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3 Bed homes cheaper</a:t>
            </a:r>
            <a:endParaRPr sz="3000">
              <a:latin typeface="Times New Roman"/>
              <a:ea typeface="Times New Roman"/>
              <a:cs typeface="Times New Roman"/>
              <a:sym typeface="Times New Roman"/>
            </a:endParaRPr>
          </a:p>
        </p:txBody>
      </p:sp>
      <p:sp>
        <p:nvSpPr>
          <p:cNvPr id="243" name="Shape 243"/>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p:txBody>
      </p:sp>
      <p:pic>
        <p:nvPicPr>
          <p:cNvPr id="246" name="Shape 246"/>
          <p:cNvPicPr preferRelativeResize="0"/>
          <p:nvPr/>
        </p:nvPicPr>
        <p:blipFill>
          <a:blip r:embed="rId3">
            <a:alphaModFix/>
          </a:blip>
          <a:stretch>
            <a:fillRect/>
          </a:stretch>
        </p:blipFill>
        <p:spPr>
          <a:xfrm>
            <a:off x="2067950" y="1113050"/>
            <a:ext cx="5051950" cy="3258875"/>
          </a:xfrm>
          <a:prstGeom prst="rect">
            <a:avLst/>
          </a:prstGeom>
          <a:noFill/>
          <a:ln>
            <a:noFill/>
          </a:ln>
        </p:spPr>
      </p:pic>
      <p:sp>
        <p:nvSpPr>
          <p:cNvPr id="247" name="Shape 247"/>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8" name="Shape 248"/>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249" name="Shape 249"/>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0" name="Shape 250"/>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251" name="Shape 251"/>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2" name="Shape 252"/>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253" name="Shape 253"/>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 name="Shape 254"/>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255" name="Shape 255"/>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6" name="Shape 256"/>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257" name="Shape 257"/>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8" name="Shape 258"/>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259" name="Shape 259"/>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0" name="Shape 260"/>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261" name="Shape 261"/>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2" name="Shape 262"/>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263" name="Shape 263"/>
          <p:cNvSpPr/>
          <p:nvPr/>
        </p:nvSpPr>
        <p:spPr>
          <a:xfrm>
            <a:off x="62240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 name="Shape 264"/>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Visualizations</a:t>
            </a:r>
            <a:endParaRPr sz="900">
              <a:solidFill>
                <a:srgbClr val="FFFFFF"/>
              </a:solidFill>
            </a:endParaRPr>
          </a:p>
        </p:txBody>
      </p:sp>
      <p:sp>
        <p:nvSpPr>
          <p:cNvPr id="265" name="Shape 265"/>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6" name="Shape 266"/>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267" name="Shape 267"/>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8" name="Shape 268"/>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269" name="Shape 269"/>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0" name="Shape 270"/>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274"/>
        <p:cNvGrpSpPr/>
        <p:nvPr/>
      </p:nvGrpSpPr>
      <p:grpSpPr>
        <a:xfrm>
          <a:off x="0" y="0"/>
          <a:ext cx="0" cy="0"/>
          <a:chOff x="0" y="0"/>
          <a:chExt cx="0" cy="0"/>
        </a:xfrm>
      </p:grpSpPr>
      <p:sp>
        <p:nvSpPr>
          <p:cNvPr id="275" name="Shape 275"/>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Home type may not matter</a:t>
            </a:r>
            <a:endParaRPr sz="3000">
              <a:latin typeface="Times New Roman"/>
              <a:ea typeface="Times New Roman"/>
              <a:cs typeface="Times New Roman"/>
              <a:sym typeface="Times New Roman"/>
            </a:endParaRPr>
          </a:p>
        </p:txBody>
      </p:sp>
      <p:sp>
        <p:nvSpPr>
          <p:cNvPr id="276" name="Shape 276"/>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p:txBody>
      </p:sp>
      <p:pic>
        <p:nvPicPr>
          <p:cNvPr id="279" name="Shape 279"/>
          <p:cNvPicPr preferRelativeResize="0"/>
          <p:nvPr/>
        </p:nvPicPr>
        <p:blipFill>
          <a:blip r:embed="rId3">
            <a:alphaModFix/>
          </a:blip>
          <a:stretch>
            <a:fillRect/>
          </a:stretch>
        </p:blipFill>
        <p:spPr>
          <a:xfrm>
            <a:off x="1815575" y="1082025"/>
            <a:ext cx="5228950" cy="3167900"/>
          </a:xfrm>
          <a:prstGeom prst="rect">
            <a:avLst/>
          </a:prstGeom>
          <a:noFill/>
          <a:ln>
            <a:noFill/>
          </a:ln>
        </p:spPr>
      </p:pic>
      <p:sp>
        <p:nvSpPr>
          <p:cNvPr id="280" name="Shape 280"/>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 name="Shape 281"/>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282" name="Shape 282"/>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3" name="Shape 283"/>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284" name="Shape 284"/>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5" name="Shape 285"/>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286" name="Shape 286"/>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 name="Shape 287"/>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288" name="Shape 288"/>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9" name="Shape 289"/>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290" name="Shape 290"/>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1" name="Shape 291"/>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292" name="Shape 292"/>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3" name="Shape 293"/>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294" name="Shape 294"/>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5" name="Shape 295"/>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296" name="Shape 296"/>
          <p:cNvSpPr/>
          <p:nvPr/>
        </p:nvSpPr>
        <p:spPr>
          <a:xfrm>
            <a:off x="62240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7" name="Shape 297"/>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Visualizations</a:t>
            </a:r>
            <a:endParaRPr sz="900">
              <a:solidFill>
                <a:srgbClr val="FFFFFF"/>
              </a:solidFill>
            </a:endParaRPr>
          </a:p>
        </p:txBody>
      </p:sp>
      <p:sp>
        <p:nvSpPr>
          <p:cNvPr id="298" name="Shape 298"/>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9" name="Shape 299"/>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300" name="Shape 300"/>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1" name="Shape 301"/>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302" name="Shape 302"/>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03" name="Shape 303"/>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307"/>
        <p:cNvGrpSpPr/>
        <p:nvPr/>
      </p:nvGrpSpPr>
      <p:grpSpPr>
        <a:xfrm>
          <a:off x="0" y="0"/>
          <a:ext cx="0" cy="0"/>
          <a:chOff x="0" y="0"/>
          <a:chExt cx="0" cy="0"/>
        </a:xfrm>
      </p:grpSpPr>
      <p:sp>
        <p:nvSpPr>
          <p:cNvPr id="308" name="Shape 308"/>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No reversion to mean</a:t>
            </a:r>
            <a:endParaRPr sz="3000">
              <a:latin typeface="Times New Roman"/>
              <a:ea typeface="Times New Roman"/>
              <a:cs typeface="Times New Roman"/>
              <a:sym typeface="Times New Roman"/>
            </a:endParaRPr>
          </a:p>
        </p:txBody>
      </p:sp>
      <p:sp>
        <p:nvSpPr>
          <p:cNvPr id="309" name="Shape 309"/>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p:txBody>
      </p:sp>
      <p:pic>
        <p:nvPicPr>
          <p:cNvPr id="312" name="Shape 312"/>
          <p:cNvPicPr preferRelativeResize="0"/>
          <p:nvPr/>
        </p:nvPicPr>
        <p:blipFill>
          <a:blip r:embed="rId3">
            <a:alphaModFix/>
          </a:blip>
          <a:stretch>
            <a:fillRect/>
          </a:stretch>
        </p:blipFill>
        <p:spPr>
          <a:xfrm>
            <a:off x="2019625" y="951424"/>
            <a:ext cx="5356025" cy="3455050"/>
          </a:xfrm>
          <a:prstGeom prst="rect">
            <a:avLst/>
          </a:prstGeom>
          <a:noFill/>
          <a:ln>
            <a:noFill/>
          </a:ln>
        </p:spPr>
      </p:pic>
      <p:sp>
        <p:nvSpPr>
          <p:cNvPr id="313" name="Shape 313"/>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4" name="Shape 314"/>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315" name="Shape 315"/>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6" name="Shape 316"/>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317" name="Shape 317"/>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18" name="Shape 318"/>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319" name="Shape 319"/>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0" name="Shape 320"/>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321" name="Shape 321"/>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2" name="Shape 322"/>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323" name="Shape 323"/>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4" name="Shape 324"/>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325" name="Shape 325"/>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6" name="Shape 326"/>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327" name="Shape 327"/>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28" name="Shape 328"/>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329" name="Shape 329"/>
          <p:cNvSpPr/>
          <p:nvPr/>
        </p:nvSpPr>
        <p:spPr>
          <a:xfrm>
            <a:off x="62240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0" name="Shape 330"/>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Visualizations</a:t>
            </a:r>
            <a:endParaRPr sz="900">
              <a:solidFill>
                <a:srgbClr val="FFFFFF"/>
              </a:solidFill>
            </a:endParaRPr>
          </a:p>
        </p:txBody>
      </p:sp>
      <p:sp>
        <p:nvSpPr>
          <p:cNvPr id="331" name="Shape 331"/>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2" name="Shape 332"/>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333" name="Shape 333"/>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4" name="Shape 334"/>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335" name="Shape 335"/>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6" name="Shape 336"/>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340"/>
        <p:cNvGrpSpPr/>
        <p:nvPr/>
      </p:nvGrpSpPr>
      <p:grpSpPr>
        <a:xfrm>
          <a:off x="0" y="0"/>
          <a:ext cx="0" cy="0"/>
          <a:chOff x="0" y="0"/>
          <a:chExt cx="0" cy="0"/>
        </a:xfrm>
      </p:grpSpPr>
      <p:sp>
        <p:nvSpPr>
          <p:cNvPr id="341" name="Shape 341"/>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High Ratio = High Growth</a:t>
            </a:r>
            <a:endParaRPr sz="3000">
              <a:latin typeface="Times New Roman"/>
              <a:ea typeface="Times New Roman"/>
              <a:cs typeface="Times New Roman"/>
              <a:sym typeface="Times New Roman"/>
            </a:endParaRPr>
          </a:p>
        </p:txBody>
      </p:sp>
      <p:sp>
        <p:nvSpPr>
          <p:cNvPr id="342" name="Shape 342"/>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p:txBody>
      </p:sp>
      <p:pic>
        <p:nvPicPr>
          <p:cNvPr id="345" name="Shape 345"/>
          <p:cNvPicPr preferRelativeResize="0"/>
          <p:nvPr/>
        </p:nvPicPr>
        <p:blipFill>
          <a:blip r:embed="rId3">
            <a:alphaModFix/>
          </a:blip>
          <a:stretch>
            <a:fillRect/>
          </a:stretch>
        </p:blipFill>
        <p:spPr>
          <a:xfrm>
            <a:off x="2036487" y="928475"/>
            <a:ext cx="5245988" cy="3573150"/>
          </a:xfrm>
          <a:prstGeom prst="rect">
            <a:avLst/>
          </a:prstGeom>
          <a:noFill/>
          <a:ln>
            <a:noFill/>
          </a:ln>
        </p:spPr>
      </p:pic>
      <p:sp>
        <p:nvSpPr>
          <p:cNvPr id="346" name="Shape 346"/>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7" name="Shape 347"/>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348" name="Shape 348"/>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49" name="Shape 349"/>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350" name="Shape 350"/>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1" name="Shape 351"/>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352" name="Shape 352"/>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3" name="Shape 353"/>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354" name="Shape 354"/>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5" name="Shape 355"/>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356" name="Shape 356"/>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7" name="Shape 357"/>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358" name="Shape 358"/>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9" name="Shape 359"/>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360" name="Shape 360"/>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1" name="Shape 361"/>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362" name="Shape 362"/>
          <p:cNvSpPr/>
          <p:nvPr/>
        </p:nvSpPr>
        <p:spPr>
          <a:xfrm>
            <a:off x="62240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3" name="Shape 363"/>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Visualizations</a:t>
            </a:r>
            <a:endParaRPr sz="900">
              <a:solidFill>
                <a:srgbClr val="FFFFFF"/>
              </a:solidFill>
            </a:endParaRPr>
          </a:p>
        </p:txBody>
      </p:sp>
      <p:sp>
        <p:nvSpPr>
          <p:cNvPr id="364" name="Shape 364"/>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5" name="Shape 365"/>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366" name="Shape 366"/>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7" name="Shape 367"/>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368" name="Shape 368"/>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9" name="Shape 369"/>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373"/>
        <p:cNvGrpSpPr/>
        <p:nvPr/>
      </p:nvGrpSpPr>
      <p:grpSpPr>
        <a:xfrm>
          <a:off x="0" y="0"/>
          <a:ext cx="0" cy="0"/>
          <a:chOff x="0" y="0"/>
          <a:chExt cx="0" cy="0"/>
        </a:xfrm>
      </p:grpSpPr>
      <p:sp>
        <p:nvSpPr>
          <p:cNvPr id="374" name="Shape 374"/>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Cheap markets stay cheap</a:t>
            </a:r>
            <a:endParaRPr sz="3000">
              <a:latin typeface="Times New Roman"/>
              <a:ea typeface="Times New Roman"/>
              <a:cs typeface="Times New Roman"/>
              <a:sym typeface="Times New Roman"/>
            </a:endParaRPr>
          </a:p>
        </p:txBody>
      </p:sp>
      <p:sp>
        <p:nvSpPr>
          <p:cNvPr id="375" name="Shape 375"/>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p:txBody>
      </p:sp>
      <p:pic>
        <p:nvPicPr>
          <p:cNvPr id="378" name="Shape 378"/>
          <p:cNvPicPr preferRelativeResize="0"/>
          <p:nvPr/>
        </p:nvPicPr>
        <p:blipFill>
          <a:blip r:embed="rId3">
            <a:alphaModFix/>
          </a:blip>
          <a:stretch>
            <a:fillRect/>
          </a:stretch>
        </p:blipFill>
        <p:spPr>
          <a:xfrm>
            <a:off x="1971100" y="923925"/>
            <a:ext cx="5125900" cy="3478300"/>
          </a:xfrm>
          <a:prstGeom prst="rect">
            <a:avLst/>
          </a:prstGeom>
          <a:noFill/>
          <a:ln>
            <a:noFill/>
          </a:ln>
        </p:spPr>
      </p:pic>
      <p:sp>
        <p:nvSpPr>
          <p:cNvPr id="379" name="Shape 379"/>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0" name="Shape 380"/>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381" name="Shape 381"/>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2" name="Shape 382"/>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383" name="Shape 383"/>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4" name="Shape 384"/>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385" name="Shape 385"/>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6" name="Shape 386"/>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387" name="Shape 387"/>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88" name="Shape 388"/>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389" name="Shape 389"/>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0" name="Shape 390"/>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391" name="Shape 391"/>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2" name="Shape 392"/>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393" name="Shape 393"/>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4" name="Shape 394"/>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395" name="Shape 395"/>
          <p:cNvSpPr/>
          <p:nvPr/>
        </p:nvSpPr>
        <p:spPr>
          <a:xfrm>
            <a:off x="62240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6" name="Shape 396"/>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Visualizations</a:t>
            </a:r>
            <a:endParaRPr sz="900">
              <a:solidFill>
                <a:srgbClr val="FFFFFF"/>
              </a:solidFill>
            </a:endParaRPr>
          </a:p>
        </p:txBody>
      </p:sp>
      <p:sp>
        <p:nvSpPr>
          <p:cNvPr id="397" name="Shape 397"/>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98" name="Shape 398"/>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399" name="Shape 399"/>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0" name="Shape 400"/>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401" name="Shape 401"/>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02" name="Shape 402"/>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406"/>
        <p:cNvGrpSpPr/>
        <p:nvPr/>
      </p:nvGrpSpPr>
      <p:grpSpPr>
        <a:xfrm>
          <a:off x="0" y="0"/>
          <a:ext cx="0" cy="0"/>
          <a:chOff x="0" y="0"/>
          <a:chExt cx="0" cy="0"/>
        </a:xfrm>
      </p:grpSpPr>
      <p:sp>
        <p:nvSpPr>
          <p:cNvPr id="407" name="Shape 407"/>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Factors affecting House Prices</a:t>
            </a:r>
            <a:endParaRPr sz="3000">
              <a:latin typeface="Times New Roman"/>
              <a:ea typeface="Times New Roman"/>
              <a:cs typeface="Times New Roman"/>
              <a:sym typeface="Times New Roman"/>
            </a:endParaRPr>
          </a:p>
        </p:txBody>
      </p:sp>
      <p:sp>
        <p:nvSpPr>
          <p:cNvPr id="408" name="Shape 408"/>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Interest rates</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Economic growth</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Migration</a:t>
            </a:r>
            <a:endParaRPr>
              <a:solidFill>
                <a:srgbClr val="000000"/>
              </a:solidFill>
              <a:latin typeface="Times New Roman"/>
              <a:ea typeface="Times New Roman"/>
              <a:cs typeface="Times New Roman"/>
              <a:sym typeface="Times New Roman"/>
            </a:endParaRPr>
          </a:p>
          <a:p>
            <a:pPr marL="0" lvl="0" indent="457200" rtl="0">
              <a:lnSpc>
                <a:spcPct val="115000"/>
              </a:lnSpc>
              <a:spcBef>
                <a:spcPts val="0"/>
              </a:spcBef>
              <a:spcAft>
                <a:spcPts val="0"/>
              </a:spcAft>
              <a:buNone/>
            </a:pPr>
            <a:r>
              <a:rPr lang="en">
                <a:solidFill>
                  <a:srgbClr val="000000"/>
                </a:solidFill>
                <a:latin typeface="Times New Roman"/>
                <a:ea typeface="Times New Roman"/>
                <a:cs typeface="Times New Roman"/>
                <a:sym typeface="Times New Roman"/>
              </a:rPr>
              <a:t>Unemployment levels</a:t>
            </a:r>
            <a:endParaRPr>
              <a:solidFill>
                <a:srgbClr val="000000"/>
              </a:solidFill>
              <a:latin typeface="Times New Roman"/>
              <a:ea typeface="Times New Roman"/>
              <a:cs typeface="Times New Roman"/>
              <a:sym typeface="Times New Roman"/>
            </a:endParaRPr>
          </a:p>
          <a:p>
            <a:pPr marL="0" lvl="0" indent="457200" rtl="0">
              <a:lnSpc>
                <a:spcPct val="115000"/>
              </a:lnSpc>
              <a:spcBef>
                <a:spcPts val="0"/>
              </a:spcBef>
              <a:spcAft>
                <a:spcPts val="0"/>
              </a:spcAft>
              <a:buNone/>
            </a:pPr>
            <a:r>
              <a:rPr lang="en">
                <a:solidFill>
                  <a:srgbClr val="000000"/>
                </a:solidFill>
                <a:latin typeface="Times New Roman"/>
                <a:ea typeface="Times New Roman"/>
                <a:cs typeface="Times New Roman"/>
                <a:sym typeface="Times New Roman"/>
              </a:rPr>
              <a:t>Post tax income - minimum of Rent or Mortgage</a:t>
            </a:r>
            <a:endParaRPr>
              <a:solidFill>
                <a:srgbClr val="000000"/>
              </a:solidFill>
              <a:latin typeface="Times New Roman"/>
              <a:ea typeface="Times New Roman"/>
              <a:cs typeface="Times New Roman"/>
              <a:sym typeface="Times New Roman"/>
            </a:endParaRPr>
          </a:p>
          <a:p>
            <a:pPr marL="0" lvl="0" indent="457200" rtl="0">
              <a:lnSpc>
                <a:spcPct val="115000"/>
              </a:lnSpc>
              <a:spcBef>
                <a:spcPts val="0"/>
              </a:spcBef>
              <a:spcAft>
                <a:spcPts val="0"/>
              </a:spcAft>
              <a:buNone/>
            </a:pPr>
            <a:r>
              <a:rPr lang="en">
                <a:solidFill>
                  <a:srgbClr val="000000"/>
                </a:solidFill>
                <a:latin typeface="Times New Roman"/>
                <a:ea typeface="Times New Roman"/>
                <a:cs typeface="Times New Roman"/>
                <a:sym typeface="Times New Roman"/>
              </a:rPr>
              <a:t>Minimum of Rent of Mortgage/ Post tax income ratio</a:t>
            </a:r>
            <a:endParaRPr>
              <a:solidFill>
                <a:srgbClr val="000000"/>
              </a:solidFill>
              <a:latin typeface="Times New Roman"/>
              <a:ea typeface="Times New Roman"/>
              <a:cs typeface="Times New Roman"/>
              <a:sym typeface="Times New Roman"/>
            </a:endParaRPr>
          </a:p>
          <a:p>
            <a:pPr marL="457200" lvl="0" indent="-342900" rtl="0">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Quality of life in the zip code (income level)</a:t>
            </a:r>
            <a:endParaRPr>
              <a:solidFill>
                <a:srgbClr val="000000"/>
              </a:solidFill>
              <a:latin typeface="Times New Roman"/>
              <a:ea typeface="Times New Roman"/>
              <a:cs typeface="Times New Roman"/>
              <a:sym typeface="Times New Roman"/>
            </a:endParaRPr>
          </a:p>
          <a:p>
            <a:pPr marL="457200" lvl="0" indent="-342900" rtl="0">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Wealth of the local residents</a:t>
            </a:r>
            <a:endParaRPr>
              <a:solidFill>
                <a:srgbClr val="000000"/>
              </a:solidFill>
              <a:latin typeface="Times New Roman"/>
              <a:ea typeface="Times New Roman"/>
              <a:cs typeface="Times New Roman"/>
              <a:sym typeface="Times New Roman"/>
            </a:endParaRPr>
          </a:p>
          <a:p>
            <a:pPr marL="457200" lvl="0" indent="-342900" rtl="0">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Percentage of residents in 23 - 33 age group</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Current and past percentage of Rentals vs Ownership</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Overall population turnover % in the zip code </a:t>
            </a: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p:txBody>
      </p:sp>
      <p:sp>
        <p:nvSpPr>
          <p:cNvPr id="411" name="Shape 411"/>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2" name="Shape 412"/>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413" name="Shape 413"/>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4" name="Shape 414"/>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415" name="Shape 415"/>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6" name="Shape 416"/>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417" name="Shape 417"/>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18" name="Shape 418"/>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419" name="Shape 419"/>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0" name="Shape 420"/>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421" name="Shape 421"/>
          <p:cNvSpPr/>
          <p:nvPr/>
        </p:nvSpPr>
        <p:spPr>
          <a:xfrm>
            <a:off x="7138475" y="141150"/>
            <a:ext cx="10257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2" name="Shape 422"/>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Modeling</a:t>
            </a:r>
            <a:endParaRPr sz="900">
              <a:solidFill>
                <a:srgbClr val="FFFFFF"/>
              </a:solidFill>
            </a:endParaRPr>
          </a:p>
        </p:txBody>
      </p:sp>
      <p:sp>
        <p:nvSpPr>
          <p:cNvPr id="423" name="Shape 423"/>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4" name="Shape 424"/>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425" name="Shape 425"/>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26" name="Shape 426"/>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430"/>
        <p:cNvGrpSpPr/>
        <p:nvPr/>
      </p:nvGrpSpPr>
      <p:grpSpPr>
        <a:xfrm>
          <a:off x="0" y="0"/>
          <a:ext cx="0" cy="0"/>
          <a:chOff x="0" y="0"/>
          <a:chExt cx="0" cy="0"/>
        </a:xfrm>
      </p:grpSpPr>
      <p:sp>
        <p:nvSpPr>
          <p:cNvPr id="431" name="Shape 431"/>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IRS data</a:t>
            </a:r>
            <a:endParaRPr sz="3000">
              <a:latin typeface="Times New Roman"/>
              <a:ea typeface="Times New Roman"/>
              <a:cs typeface="Times New Roman"/>
              <a:sym typeface="Times New Roman"/>
            </a:endParaRPr>
          </a:p>
        </p:txBody>
      </p:sp>
      <p:sp>
        <p:nvSpPr>
          <p:cNvPr id="432" name="Shape 432"/>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r>
              <a:rPr lang="en">
                <a:solidFill>
                  <a:srgbClr val="000000"/>
                </a:solidFill>
                <a:latin typeface="Times New Roman"/>
                <a:ea typeface="Times New Roman"/>
                <a:cs typeface="Times New Roman"/>
                <a:sym typeface="Times New Roman"/>
              </a:rPr>
              <a:t>Wrangling, feature extraction with the IRS tax data set</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Median Income of zip code</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Adjusted Median Income of zip (&gt; 100,000 counts as 100,000)</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Percentage of population by income bracket</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Capital Gains per individual</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Percentage of singles</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Percentage of home ownership ratio</a:t>
            </a:r>
            <a:endParaRPr>
              <a:solidFill>
                <a:srgbClr val="000000"/>
              </a:solidFill>
              <a:latin typeface="Times New Roman"/>
              <a:ea typeface="Times New Roman"/>
              <a:cs typeface="Times New Roman"/>
              <a:sym typeface="Times New Roman"/>
            </a:endParaRPr>
          </a:p>
        </p:txBody>
      </p:sp>
      <p:pic>
        <p:nvPicPr>
          <p:cNvPr id="435" name="Shape 435"/>
          <p:cNvPicPr preferRelativeResize="0"/>
          <p:nvPr/>
        </p:nvPicPr>
        <p:blipFill>
          <a:blip r:embed="rId3">
            <a:alphaModFix/>
          </a:blip>
          <a:stretch>
            <a:fillRect/>
          </a:stretch>
        </p:blipFill>
        <p:spPr>
          <a:xfrm>
            <a:off x="109225" y="946975"/>
            <a:ext cx="9002474" cy="1803800"/>
          </a:xfrm>
          <a:prstGeom prst="rect">
            <a:avLst/>
          </a:prstGeom>
          <a:noFill/>
          <a:ln>
            <a:noFill/>
          </a:ln>
        </p:spPr>
      </p:pic>
      <p:sp>
        <p:nvSpPr>
          <p:cNvPr id="436" name="Shape 436"/>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7" name="Shape 437"/>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438" name="Shape 438"/>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39" name="Shape 439"/>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440" name="Shape 440"/>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1" name="Shape 441"/>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442" name="Shape 442"/>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3" name="Shape 443"/>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444" name="Shape 444"/>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5" name="Shape 445"/>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446" name="Shape 446"/>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7" name="Shape 447"/>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448" name="Shape 448"/>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49" name="Shape 449"/>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450" name="Shape 450"/>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1" name="Shape 451"/>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452" name="Shape 452"/>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3" name="Shape 453"/>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454" name="Shape 454"/>
          <p:cNvSpPr/>
          <p:nvPr/>
        </p:nvSpPr>
        <p:spPr>
          <a:xfrm>
            <a:off x="7138475" y="141150"/>
            <a:ext cx="10257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5" name="Shape 455"/>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Modeling</a:t>
            </a:r>
            <a:endParaRPr sz="900">
              <a:solidFill>
                <a:srgbClr val="FFFFFF"/>
              </a:solidFill>
            </a:endParaRPr>
          </a:p>
        </p:txBody>
      </p:sp>
      <p:sp>
        <p:nvSpPr>
          <p:cNvPr id="456" name="Shape 456"/>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7" name="Shape 457"/>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458" name="Shape 458"/>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59" name="Shape 459"/>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463"/>
        <p:cNvGrpSpPr/>
        <p:nvPr/>
      </p:nvGrpSpPr>
      <p:grpSpPr>
        <a:xfrm>
          <a:off x="0" y="0"/>
          <a:ext cx="0" cy="0"/>
          <a:chOff x="0" y="0"/>
          <a:chExt cx="0" cy="0"/>
        </a:xfrm>
      </p:grpSpPr>
      <p:sp>
        <p:nvSpPr>
          <p:cNvPr id="464" name="Shape 464"/>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Modeling the relationship</a:t>
            </a:r>
            <a:endParaRPr sz="3000">
              <a:latin typeface="Times New Roman"/>
              <a:ea typeface="Times New Roman"/>
              <a:cs typeface="Times New Roman"/>
              <a:sym typeface="Times New Roman"/>
            </a:endParaRPr>
          </a:p>
        </p:txBody>
      </p:sp>
      <p:sp>
        <p:nvSpPr>
          <p:cNvPr id="465" name="Shape 465"/>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a:solidFill>
                  <a:srgbClr val="000000"/>
                </a:solidFill>
                <a:latin typeface="Times New Roman"/>
                <a:ea typeface="Times New Roman"/>
                <a:cs typeface="Times New Roman"/>
                <a:sym typeface="Times New Roman"/>
              </a:rPr>
              <a:t>150,000 rows, 8000 zip codes, 17 years</a:t>
            </a: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r>
              <a:rPr lang="en">
                <a:solidFill>
                  <a:srgbClr val="000000"/>
                </a:solidFill>
                <a:latin typeface="Times New Roman"/>
                <a:ea typeface="Times New Roman"/>
                <a:cs typeface="Times New Roman"/>
                <a:sym typeface="Times New Roman"/>
              </a:rPr>
              <a:t>Response variable: House price percentage change from current year Jan to next year Jan</a:t>
            </a: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r>
              <a:rPr lang="en">
                <a:solidFill>
                  <a:srgbClr val="000000"/>
                </a:solidFill>
                <a:latin typeface="Times New Roman"/>
                <a:ea typeface="Times New Roman"/>
                <a:cs typeface="Times New Roman"/>
                <a:sym typeface="Times New Roman"/>
              </a:rPr>
              <a:t>Predictors</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County level unemployment rate (January)</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Mortgage rate</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State GDP change in the last year</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Current House value / rent ratio (January)</a:t>
            </a:r>
            <a:endParaRPr>
              <a:solidFill>
                <a:srgbClr val="000000"/>
              </a:solidFill>
              <a:latin typeface="Times New Roman"/>
              <a:ea typeface="Times New Roman"/>
              <a:cs typeface="Times New Roman"/>
              <a:sym typeface="Times New Roman"/>
            </a:endParaRPr>
          </a:p>
        </p:txBody>
      </p:sp>
      <p:pic>
        <p:nvPicPr>
          <p:cNvPr id="468" name="Shape 468"/>
          <p:cNvPicPr preferRelativeResize="0"/>
          <p:nvPr/>
        </p:nvPicPr>
        <p:blipFill>
          <a:blip r:embed="rId3">
            <a:alphaModFix/>
          </a:blip>
          <a:stretch>
            <a:fillRect/>
          </a:stretch>
        </p:blipFill>
        <p:spPr>
          <a:xfrm>
            <a:off x="914400" y="1581275"/>
            <a:ext cx="7058025" cy="914400"/>
          </a:xfrm>
          <a:prstGeom prst="rect">
            <a:avLst/>
          </a:prstGeom>
          <a:noFill/>
          <a:ln>
            <a:noFill/>
          </a:ln>
        </p:spPr>
      </p:pic>
      <p:sp>
        <p:nvSpPr>
          <p:cNvPr id="469" name="Shape 469"/>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0" name="Shape 470"/>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471" name="Shape 471"/>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2" name="Shape 472"/>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473" name="Shape 473"/>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4" name="Shape 474"/>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475" name="Shape 475"/>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6" name="Shape 476"/>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477" name="Shape 477"/>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78" name="Shape 478"/>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479" name="Shape 479"/>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0" name="Shape 480"/>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481" name="Shape 481"/>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2" name="Shape 482"/>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483" name="Shape 483"/>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4" name="Shape 484"/>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485" name="Shape 485"/>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6" name="Shape 486"/>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487" name="Shape 487"/>
          <p:cNvSpPr/>
          <p:nvPr/>
        </p:nvSpPr>
        <p:spPr>
          <a:xfrm>
            <a:off x="7138475" y="141150"/>
            <a:ext cx="10257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88" name="Shape 488"/>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Modeling</a:t>
            </a:r>
            <a:endParaRPr sz="900">
              <a:solidFill>
                <a:srgbClr val="FFFFFF"/>
              </a:solidFill>
            </a:endParaRPr>
          </a:p>
        </p:txBody>
      </p:sp>
      <p:sp>
        <p:nvSpPr>
          <p:cNvPr id="489" name="Shape 489"/>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0" name="Shape 490"/>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491" name="Shape 491"/>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492" name="Shape 492"/>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496"/>
        <p:cNvGrpSpPr/>
        <p:nvPr/>
      </p:nvGrpSpPr>
      <p:grpSpPr>
        <a:xfrm>
          <a:off x="0" y="0"/>
          <a:ext cx="0" cy="0"/>
          <a:chOff x="0" y="0"/>
          <a:chExt cx="0" cy="0"/>
        </a:xfrm>
      </p:grpSpPr>
      <p:sp>
        <p:nvSpPr>
          <p:cNvPr id="497" name="Shape 497"/>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Modeling results</a:t>
            </a:r>
            <a:endParaRPr sz="3000">
              <a:latin typeface="Times New Roman"/>
              <a:ea typeface="Times New Roman"/>
              <a:cs typeface="Times New Roman"/>
              <a:sym typeface="Times New Roman"/>
            </a:endParaRPr>
          </a:p>
        </p:txBody>
      </p:sp>
      <p:sp>
        <p:nvSpPr>
          <p:cNvPr id="498" name="Shape 498"/>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0"/>
              </a:spcAft>
              <a:buNone/>
            </a:pPr>
            <a:endParaRPr>
              <a:solidFill>
                <a:srgbClr val="000000"/>
              </a:solidFill>
              <a:latin typeface="Times New Roman"/>
              <a:ea typeface="Times New Roman"/>
              <a:cs typeface="Times New Roman"/>
              <a:sym typeface="Times New Roman"/>
            </a:endParaRPr>
          </a:p>
        </p:txBody>
      </p:sp>
      <p:sp>
        <p:nvSpPr>
          <p:cNvPr id="501" name="Shape 501"/>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2" name="Shape 502"/>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503" name="Shape 503"/>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4" name="Shape 504"/>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505" name="Shape 505"/>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6" name="Shape 506"/>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507" name="Shape 507"/>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08" name="Shape 508"/>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509" name="Shape 509"/>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0" name="Shape 510"/>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511" name="Shape 511"/>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2" name="Shape 512"/>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513" name="Shape 513"/>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4" name="Shape 514"/>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515" name="Shape 515"/>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6" name="Shape 516"/>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517" name="Shape 517"/>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8" name="Shape 518"/>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519" name="Shape 519"/>
          <p:cNvSpPr/>
          <p:nvPr/>
        </p:nvSpPr>
        <p:spPr>
          <a:xfrm>
            <a:off x="7138475" y="141150"/>
            <a:ext cx="10257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20" name="Shape 520"/>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Modeling</a:t>
            </a:r>
            <a:endParaRPr sz="900">
              <a:solidFill>
                <a:srgbClr val="FFFFFF"/>
              </a:solidFill>
            </a:endParaRPr>
          </a:p>
        </p:txBody>
      </p:sp>
      <p:sp>
        <p:nvSpPr>
          <p:cNvPr id="521" name="Shape 521"/>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22" name="Shape 522"/>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523" name="Shape 523"/>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24" name="Shape 524"/>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graphicFrame>
        <p:nvGraphicFramePr>
          <p:cNvPr id="525" name="Shape 525"/>
          <p:cNvGraphicFramePr/>
          <p:nvPr/>
        </p:nvGraphicFramePr>
        <p:xfrm>
          <a:off x="507975" y="1809750"/>
          <a:ext cx="8287725" cy="1798200"/>
        </p:xfrm>
        <a:graphic>
          <a:graphicData uri="http://schemas.openxmlformats.org/drawingml/2006/table">
            <a:tbl>
              <a:tblPr>
                <a:noFill/>
                <a:tableStyleId>{9181D7A4-3B6C-4026-BE81-00E82F9BF1B9}</a:tableStyleId>
              </a:tblPr>
              <a:tblGrid>
                <a:gridCol w="3062175">
                  <a:extLst>
                    <a:ext uri="{9D8B030D-6E8A-4147-A177-3AD203B41FA5}">
                      <a16:colId xmlns:a16="http://schemas.microsoft.com/office/drawing/2014/main" val="20000"/>
                    </a:ext>
                  </a:extLst>
                </a:gridCol>
                <a:gridCol w="1439250">
                  <a:extLst>
                    <a:ext uri="{9D8B030D-6E8A-4147-A177-3AD203B41FA5}">
                      <a16:colId xmlns:a16="http://schemas.microsoft.com/office/drawing/2014/main" val="20001"/>
                    </a:ext>
                  </a:extLst>
                </a:gridCol>
                <a:gridCol w="3786300">
                  <a:extLst>
                    <a:ext uri="{9D8B030D-6E8A-4147-A177-3AD203B41FA5}">
                      <a16:colId xmlns:a16="http://schemas.microsoft.com/office/drawing/2014/main" val="20002"/>
                    </a:ext>
                  </a:extLst>
                </a:gridCol>
              </a:tblGrid>
              <a:tr h="381000">
                <a:tc>
                  <a:txBody>
                    <a:bodyPr/>
                    <a:lstStyle/>
                    <a:p>
                      <a:pPr marL="0" lvl="0" indent="0">
                        <a:spcBef>
                          <a:spcPts val="0"/>
                        </a:spcBef>
                        <a:spcAft>
                          <a:spcPts val="0"/>
                        </a:spcAft>
                        <a:buNone/>
                      </a:pPr>
                      <a:r>
                        <a:rPr lang="en" b="1"/>
                        <a:t>Modeling approach</a:t>
                      </a:r>
                      <a:endParaRPr b="1"/>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spcBef>
                          <a:spcPts val="0"/>
                        </a:spcBef>
                        <a:spcAft>
                          <a:spcPts val="0"/>
                        </a:spcAft>
                        <a:buNone/>
                      </a:pPr>
                      <a:r>
                        <a:rPr lang="en" b="1"/>
                        <a:t>RMSE</a:t>
                      </a:r>
                      <a:endParaRPr b="1"/>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spcBef>
                          <a:spcPts val="0"/>
                        </a:spcBef>
                        <a:spcAft>
                          <a:spcPts val="0"/>
                        </a:spcAft>
                        <a:buNone/>
                      </a:pPr>
                      <a:r>
                        <a:rPr lang="en" b="1"/>
                        <a:t>Comments</a:t>
                      </a:r>
                      <a:endParaRPr b="1"/>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spcBef>
                          <a:spcPts val="0"/>
                        </a:spcBef>
                        <a:spcAft>
                          <a:spcPts val="0"/>
                        </a:spcAft>
                        <a:buNone/>
                      </a:pPr>
                      <a:r>
                        <a:rPr lang="en"/>
                        <a:t>Linear Regression</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spcBef>
                          <a:spcPts val="0"/>
                        </a:spcBef>
                        <a:spcAft>
                          <a:spcPts val="0"/>
                        </a:spcAft>
                        <a:buNone/>
                      </a:pPr>
                      <a:r>
                        <a:rPr lang="en"/>
                        <a:t>7</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spcBef>
                          <a:spcPts val="0"/>
                        </a:spcBef>
                        <a:spcAft>
                          <a:spcPts val="0"/>
                        </a:spcAft>
                        <a:buNone/>
                      </a:pPr>
                      <a:r>
                        <a:rPr lang="en"/>
                        <a:t>Testing period from 2010</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spcBef>
                          <a:spcPts val="0"/>
                        </a:spcBef>
                        <a:spcAft>
                          <a:spcPts val="0"/>
                        </a:spcAft>
                        <a:buNone/>
                      </a:pPr>
                      <a:r>
                        <a:rPr lang="en"/>
                        <a:t>Random Forest regression</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spcBef>
                          <a:spcPts val="0"/>
                        </a:spcBef>
                        <a:spcAft>
                          <a:spcPts val="0"/>
                        </a:spcAft>
                        <a:buNone/>
                      </a:pPr>
                      <a:r>
                        <a:rPr lang="en"/>
                        <a:t>9.9</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spcBef>
                          <a:spcPts val="0"/>
                        </a:spcBef>
                        <a:spcAft>
                          <a:spcPts val="0"/>
                        </a:spcAft>
                        <a:buNone/>
                      </a:pPr>
                      <a:r>
                        <a:rPr lang="en"/>
                        <a:t>100 trees, Testing period from 2010</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96200">
                <a:tc>
                  <a:txBody>
                    <a:bodyPr/>
                    <a:lstStyle/>
                    <a:p>
                      <a:pPr marL="0" lvl="0" indent="0">
                        <a:spcBef>
                          <a:spcPts val="0"/>
                        </a:spcBef>
                        <a:spcAft>
                          <a:spcPts val="0"/>
                        </a:spcAft>
                        <a:buNone/>
                      </a:pPr>
                      <a:r>
                        <a:rPr lang="en"/>
                        <a:t>Support Vector Regression</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spcBef>
                          <a:spcPts val="0"/>
                        </a:spcBef>
                        <a:spcAft>
                          <a:spcPts val="0"/>
                        </a:spcAft>
                        <a:buNone/>
                      </a:pPr>
                      <a:r>
                        <a:rPr lang="en"/>
                        <a:t>7.7</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spcBef>
                          <a:spcPts val="0"/>
                        </a:spcBef>
                        <a:spcAft>
                          <a:spcPts val="0"/>
                        </a:spcAft>
                        <a:buNone/>
                      </a:pPr>
                      <a:r>
                        <a:rPr lang="en"/>
                        <a:t>C = 0.1. Randomly sampled 10,000 rows. Testing period from 2010</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529"/>
        <p:cNvGrpSpPr/>
        <p:nvPr/>
      </p:nvGrpSpPr>
      <p:grpSpPr>
        <a:xfrm>
          <a:off x="0" y="0"/>
          <a:ext cx="0" cy="0"/>
          <a:chOff x="0" y="0"/>
          <a:chExt cx="0" cy="0"/>
        </a:xfrm>
      </p:grpSpPr>
      <p:sp>
        <p:nvSpPr>
          <p:cNvPr id="530" name="Shape 530"/>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Results discussion</a:t>
            </a:r>
            <a:endParaRPr sz="3000">
              <a:latin typeface="Times New Roman"/>
              <a:ea typeface="Times New Roman"/>
              <a:cs typeface="Times New Roman"/>
              <a:sym typeface="Times New Roman"/>
            </a:endParaRPr>
          </a:p>
        </p:txBody>
      </p:sp>
      <p:sp>
        <p:nvSpPr>
          <p:cNvPr id="531" name="Shape 531"/>
          <p:cNvSpPr txBox="1">
            <a:spLocks noGrp="1"/>
          </p:cNvSpPr>
          <p:nvPr>
            <p:ph type="body" idx="4294967295"/>
          </p:nvPr>
        </p:nvSpPr>
        <p:spPr>
          <a:xfrm>
            <a:off x="319500" y="928475"/>
            <a:ext cx="8605500" cy="27102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0"/>
              </a:spcAft>
              <a:buNone/>
            </a:pPr>
            <a:r>
              <a:rPr lang="en" dirty="0">
                <a:solidFill>
                  <a:srgbClr val="000000"/>
                </a:solidFill>
                <a:latin typeface="Times New Roman"/>
                <a:ea typeface="Times New Roman"/>
                <a:cs typeface="Times New Roman"/>
                <a:sym typeface="Times New Roman"/>
              </a:rPr>
              <a:t>Generate relevant visualizations and descriptive statistics</a:t>
            </a:r>
            <a:endParaRPr dirty="0">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Do the analysis for 2010 - 2017 with actual value_ratios</a:t>
            </a:r>
            <a:endParaRPr dirty="0">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Restrict analysis to markets with ratios in the range of 5 to 20</a:t>
            </a:r>
          </a:p>
          <a:p>
            <a:pPr marL="457200" lvl="0" indent="-342900" rtl="0">
              <a:lnSpc>
                <a:spcPct val="115000"/>
              </a:lnSpc>
              <a:spcBef>
                <a:spcPts val="0"/>
              </a:spcBef>
              <a:spcAft>
                <a:spcPts val="0"/>
              </a:spcAft>
              <a:buClr>
                <a:srgbClr val="000000"/>
              </a:buClr>
              <a:buSzPts val="1800"/>
              <a:buFont typeface="Times New Roman"/>
              <a:buChar char="●"/>
            </a:pPr>
            <a:r>
              <a:rPr lang="en-IN" dirty="0">
                <a:solidFill>
                  <a:srgbClr val="000000"/>
                </a:solidFill>
                <a:latin typeface="Times New Roman"/>
                <a:ea typeface="Times New Roman"/>
                <a:cs typeface="Times New Roman"/>
                <a:sym typeface="Times New Roman"/>
              </a:rPr>
              <a:t>R</a:t>
            </a:r>
            <a:r>
              <a:rPr lang="en" dirty="0">
                <a:solidFill>
                  <a:srgbClr val="000000"/>
                </a:solidFill>
                <a:latin typeface="Times New Roman"/>
                <a:ea typeface="Times New Roman"/>
                <a:cs typeface="Times New Roman"/>
                <a:sym typeface="Times New Roman"/>
              </a:rPr>
              <a:t>estrict the analysis only for ratio </a:t>
            </a:r>
            <a:r>
              <a:rPr lang="en-IN" dirty="0">
                <a:solidFill>
                  <a:srgbClr val="000000"/>
                </a:solidFill>
                <a:latin typeface="Times New Roman"/>
                <a:ea typeface="Times New Roman"/>
                <a:cs typeface="Times New Roman"/>
                <a:sym typeface="Times New Roman"/>
              </a:rPr>
              <a:t>below 7</a:t>
            </a:r>
            <a:endParaRPr dirty="0">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Predict yearly house_price_change adjusted for median_house_price_change</a:t>
            </a:r>
            <a:endParaRPr dirty="0">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Change prediction window to 5 years</a:t>
            </a:r>
            <a:endParaRPr dirty="0">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Features that are more change from previous year oriented rather than actual values</a:t>
            </a:r>
            <a:endParaRPr dirty="0">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Build separate models for rents and prices</a:t>
            </a:r>
            <a:endParaRPr dirty="0">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Rents may be actually dependant on zip code level specific data. House values are dependant on the rent and the ratio. The ratio depends on the economy. Hard to predict economy, recessions</a:t>
            </a:r>
            <a:endParaRPr dirty="0">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dirty="0">
                <a:solidFill>
                  <a:srgbClr val="000000"/>
                </a:solidFill>
                <a:latin typeface="Times New Roman"/>
                <a:ea typeface="Times New Roman"/>
                <a:cs typeface="Times New Roman"/>
                <a:sym typeface="Times New Roman"/>
              </a:rPr>
              <a:t>Not many transactions on Zillow in 2010. Data quality concerns. Need better and zip code level predictors</a:t>
            </a:r>
            <a:endParaRPr dirty="0">
              <a:solidFill>
                <a:srgbClr val="000000"/>
              </a:solidFill>
              <a:latin typeface="Times New Roman"/>
              <a:ea typeface="Times New Roman"/>
              <a:cs typeface="Times New Roman"/>
              <a:sym typeface="Times New Roman"/>
            </a:endParaRPr>
          </a:p>
          <a:p>
            <a:pPr marL="0" lvl="0" indent="0" rtl="0">
              <a:lnSpc>
                <a:spcPct val="115000"/>
              </a:lnSpc>
              <a:spcBef>
                <a:spcPts val="0"/>
              </a:spcBef>
              <a:spcAft>
                <a:spcPts val="0"/>
              </a:spcAft>
              <a:buNone/>
            </a:pPr>
            <a:endParaRPr dirty="0">
              <a:solidFill>
                <a:srgbClr val="000000"/>
              </a:solidFill>
              <a:latin typeface="Times New Roman"/>
              <a:ea typeface="Times New Roman"/>
              <a:cs typeface="Times New Roman"/>
              <a:sym typeface="Times New Roman"/>
            </a:endParaRPr>
          </a:p>
        </p:txBody>
      </p:sp>
      <p:sp>
        <p:nvSpPr>
          <p:cNvPr id="534" name="Shape 534"/>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5" name="Shape 535"/>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536" name="Shape 536"/>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7" name="Shape 537"/>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538" name="Shape 538"/>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9" name="Shape 539"/>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540" name="Shape 540"/>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1" name="Shape 541"/>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542" name="Shape 542"/>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3" name="Shape 543"/>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544" name="Shape 544"/>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5" name="Shape 545"/>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546" name="Shape 546"/>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7" name="Shape 547"/>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548" name="Shape 548"/>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9" name="Shape 549"/>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550" name="Shape 550"/>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1" name="Shape 551"/>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552" name="Shape 552"/>
          <p:cNvSpPr/>
          <p:nvPr/>
        </p:nvSpPr>
        <p:spPr>
          <a:xfrm>
            <a:off x="7138475" y="141150"/>
            <a:ext cx="10257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3" name="Shape 553"/>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Modeling</a:t>
            </a:r>
            <a:endParaRPr sz="900">
              <a:solidFill>
                <a:srgbClr val="FFFFFF"/>
              </a:solidFill>
            </a:endParaRPr>
          </a:p>
        </p:txBody>
      </p:sp>
      <p:sp>
        <p:nvSpPr>
          <p:cNvPr id="554" name="Shape 554"/>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5" name="Shape 555"/>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556" name="Shape 556"/>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57" name="Shape 557"/>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561"/>
        <p:cNvGrpSpPr/>
        <p:nvPr/>
      </p:nvGrpSpPr>
      <p:grpSpPr>
        <a:xfrm>
          <a:off x="0" y="0"/>
          <a:ext cx="0" cy="0"/>
          <a:chOff x="0" y="0"/>
          <a:chExt cx="0" cy="0"/>
        </a:xfrm>
      </p:grpSpPr>
      <p:sp>
        <p:nvSpPr>
          <p:cNvPr id="562" name="Shape 562"/>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Summary</a:t>
            </a:r>
            <a:endParaRPr sz="3000">
              <a:latin typeface="Times New Roman"/>
              <a:ea typeface="Times New Roman"/>
              <a:cs typeface="Times New Roman"/>
              <a:sym typeface="Times New Roman"/>
            </a:endParaRPr>
          </a:p>
        </p:txBody>
      </p:sp>
      <p:sp>
        <p:nvSpPr>
          <p:cNvPr id="563" name="Shape 563"/>
          <p:cNvSpPr txBox="1">
            <a:spLocks noGrp="1"/>
          </p:cNvSpPr>
          <p:nvPr>
            <p:ph type="body" idx="4294967295"/>
          </p:nvPr>
        </p:nvSpPr>
        <p:spPr>
          <a:xfrm>
            <a:off x="319500" y="1004675"/>
            <a:ext cx="8605500" cy="2710200"/>
          </a:xfrm>
          <a:prstGeom prst="rect">
            <a:avLst/>
          </a:prstGeom>
        </p:spPr>
        <p:txBody>
          <a:bodyPr spcFirstLastPara="1" wrap="square" lIns="91425" tIns="91425" rIns="91425" bIns="91425" anchor="t" anchorCtr="0">
            <a:noAutofit/>
          </a:bodyPr>
          <a:lstStyle/>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Lower House value to rent ratio indicates better investment opportunity</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Type of the house may not be very important</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Need to experiment with multiple modeling approaches to better predict rent and house value</a:t>
            </a:r>
            <a:endParaRPr>
              <a:solidFill>
                <a:srgbClr val="000000"/>
              </a:solidFill>
              <a:latin typeface="Times New Roman"/>
              <a:ea typeface="Times New Roman"/>
              <a:cs typeface="Times New Roman"/>
              <a:sym typeface="Times New Roman"/>
            </a:endParaRPr>
          </a:p>
          <a:p>
            <a:pPr marL="457200" lvl="0" indent="-342900" rtl="0">
              <a:lnSpc>
                <a:spcPct val="115000"/>
              </a:lnSpc>
              <a:spcBef>
                <a:spcPts val="0"/>
              </a:spcBef>
              <a:spcAft>
                <a:spcPts val="0"/>
              </a:spcAft>
              <a:buClr>
                <a:srgbClr val="000000"/>
              </a:buClr>
              <a:buSzPts val="1800"/>
              <a:buFont typeface="Times New Roman"/>
              <a:buChar char="●"/>
            </a:pPr>
            <a:r>
              <a:rPr lang="en">
                <a:solidFill>
                  <a:srgbClr val="000000"/>
                </a:solidFill>
                <a:latin typeface="Times New Roman"/>
                <a:ea typeface="Times New Roman"/>
                <a:cs typeface="Times New Roman"/>
                <a:sym typeface="Times New Roman"/>
              </a:rPr>
              <a:t>Cash flow and profit can be projected with a model to identify the best zip codes for investment</a:t>
            </a:r>
            <a:endParaRPr>
              <a:solidFill>
                <a:srgbClr val="000000"/>
              </a:solidFill>
              <a:latin typeface="Times New Roman"/>
              <a:ea typeface="Times New Roman"/>
              <a:cs typeface="Times New Roman"/>
              <a:sym typeface="Times New Roman"/>
            </a:endParaRPr>
          </a:p>
        </p:txBody>
      </p:sp>
      <p:sp>
        <p:nvSpPr>
          <p:cNvPr id="566" name="Shape 566"/>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7" name="Shape 567"/>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568" name="Shape 568"/>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69" name="Shape 569"/>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570" name="Shape 570"/>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1" name="Shape 571"/>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572" name="Shape 572"/>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3" name="Shape 573"/>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574" name="Shape 574"/>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5" name="Shape 575"/>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576" name="Shape 576"/>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7" name="Shape 577"/>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578" name="Shape 578"/>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79" name="Shape 579"/>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580" name="Shape 580"/>
          <p:cNvSpPr/>
          <p:nvPr/>
        </p:nvSpPr>
        <p:spPr>
          <a:xfrm>
            <a:off x="8052875" y="141150"/>
            <a:ext cx="10257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solidFill>
                <a:srgbClr val="434343"/>
              </a:solidFill>
            </a:endParaRPr>
          </a:p>
        </p:txBody>
      </p:sp>
      <p:sp>
        <p:nvSpPr>
          <p:cNvPr id="581" name="Shape 581"/>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Conclusion</a:t>
            </a:r>
            <a:endParaRPr sz="900">
              <a:solidFill>
                <a:srgbClr val="FFFF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585"/>
        <p:cNvGrpSpPr/>
        <p:nvPr/>
      </p:nvGrpSpPr>
      <p:grpSpPr>
        <a:xfrm>
          <a:off x="0" y="0"/>
          <a:ext cx="0" cy="0"/>
          <a:chOff x="0" y="0"/>
          <a:chExt cx="0" cy="0"/>
        </a:xfrm>
      </p:grpSpPr>
      <p:sp>
        <p:nvSpPr>
          <p:cNvPr id="586" name="Shape 586"/>
          <p:cNvSpPr txBox="1">
            <a:spLocks noGrp="1"/>
          </p:cNvSpPr>
          <p:nvPr>
            <p:ph type="title"/>
          </p:nvPr>
        </p:nvSpPr>
        <p:spPr>
          <a:xfrm>
            <a:off x="98250" y="-59850"/>
            <a:ext cx="8826600" cy="9075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3000">
                <a:latin typeface="Times New Roman"/>
                <a:ea typeface="Times New Roman"/>
                <a:cs typeface="Times New Roman"/>
                <a:sym typeface="Times New Roman"/>
              </a:rPr>
              <a:t>References</a:t>
            </a:r>
            <a:endParaRPr sz="3000">
              <a:latin typeface="Times New Roman"/>
              <a:ea typeface="Times New Roman"/>
              <a:cs typeface="Times New Roman"/>
              <a:sym typeface="Times New Roman"/>
            </a:endParaRPr>
          </a:p>
        </p:txBody>
      </p:sp>
      <p:sp>
        <p:nvSpPr>
          <p:cNvPr id="587" name="Shape 587"/>
          <p:cNvSpPr txBox="1">
            <a:spLocks noGrp="1"/>
          </p:cNvSpPr>
          <p:nvPr>
            <p:ph type="body" idx="4294967295"/>
          </p:nvPr>
        </p:nvSpPr>
        <p:spPr>
          <a:xfrm>
            <a:off x="319500" y="1004675"/>
            <a:ext cx="8222100" cy="27102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1100" dirty="0">
                <a:solidFill>
                  <a:srgbClr val="000000"/>
                </a:solidFill>
                <a:latin typeface="Times New Roman"/>
                <a:ea typeface="Times New Roman"/>
                <a:cs typeface="Times New Roman"/>
                <a:sym typeface="Times New Roman"/>
              </a:rPr>
              <a:t>[1] Housing Market value					   </a:t>
            </a:r>
          </a:p>
          <a:p>
            <a:pPr marL="0" lvl="0" indent="0" rtl="0">
              <a:spcBef>
                <a:spcPts val="0"/>
              </a:spcBef>
              <a:spcAft>
                <a:spcPts val="0"/>
              </a:spcAft>
              <a:buNone/>
            </a:pPr>
            <a:r>
              <a:rPr lang="en" sz="1100" u="sng" dirty="0">
                <a:solidFill>
                  <a:srgbClr val="4FC3F7"/>
                </a:solidFill>
                <a:latin typeface="Times New Roman"/>
                <a:ea typeface="Times New Roman"/>
                <a:cs typeface="Times New Roman"/>
                <a:sym typeface="Times New Roman"/>
              </a:rPr>
              <a:t>http://realtybiznews.com/total-value-u-s-housing-market-hits-23-9-trillion/98736694/</a:t>
            </a:r>
            <a:r>
              <a:rPr lang="en" sz="1100" dirty="0">
                <a:solidFill>
                  <a:srgbClr val="000000"/>
                </a:solidFill>
                <a:latin typeface="Times New Roman"/>
                <a:ea typeface="Times New Roman"/>
                <a:cs typeface="Times New Roman"/>
                <a:sym typeface="Times New Roman"/>
              </a:rPr>
              <a:t> </a:t>
            </a:r>
            <a:endParaRPr sz="1100" dirty="0">
              <a:solidFill>
                <a:srgbClr val="000000"/>
              </a:solidFill>
              <a:latin typeface="Times New Roman"/>
              <a:ea typeface="Times New Roman"/>
              <a:cs typeface="Times New Roman"/>
              <a:sym typeface="Times New Roman"/>
            </a:endParaRPr>
          </a:p>
          <a:p>
            <a:pPr marL="0" lvl="0" indent="0">
              <a:spcBef>
                <a:spcPts val="1600"/>
              </a:spcBef>
              <a:spcAft>
                <a:spcPts val="0"/>
              </a:spcAft>
              <a:buNone/>
            </a:pPr>
            <a:r>
              <a:rPr lang="en" sz="1100" dirty="0">
                <a:solidFill>
                  <a:srgbClr val="000000"/>
                </a:solidFill>
                <a:latin typeface="Times New Roman"/>
                <a:ea typeface="Times New Roman"/>
                <a:cs typeface="Times New Roman"/>
                <a:sym typeface="Times New Roman"/>
              </a:rPr>
              <a:t>[2] Zillow Price, Rent, Ratio data across zip code</a:t>
            </a:r>
            <a:r>
              <a:rPr lang="en-IN" sz="1100" dirty="0">
                <a:solidFill>
                  <a:srgbClr val="000000"/>
                </a:solidFill>
                <a:latin typeface="Times New Roman"/>
                <a:ea typeface="Times New Roman"/>
                <a:cs typeface="Times New Roman"/>
                <a:sym typeface="Times New Roman"/>
              </a:rPr>
              <a:t>s                                                                                      </a:t>
            </a:r>
            <a:r>
              <a:rPr lang="en" sz="1100" u="sng" dirty="0">
                <a:solidFill>
                  <a:schemeClr val="accent5"/>
                </a:solidFill>
                <a:latin typeface="Arial"/>
                <a:ea typeface="Arial"/>
                <a:cs typeface="Arial"/>
                <a:sym typeface="Arial"/>
                <a:hlinkClick r:id="rId3"/>
              </a:rPr>
              <a:t>https://www.zillow.com/research/data/</a:t>
            </a:r>
            <a:endParaRPr sz="1100" dirty="0">
              <a:solidFill>
                <a:srgbClr val="000000"/>
              </a:solidFill>
              <a:latin typeface="Times New Roman"/>
              <a:ea typeface="Times New Roman"/>
              <a:cs typeface="Times New Roman"/>
              <a:sym typeface="Times New Roman"/>
            </a:endParaRPr>
          </a:p>
          <a:p>
            <a:pPr marL="0" lvl="0" indent="0" rtl="0">
              <a:spcBef>
                <a:spcPts val="1600"/>
              </a:spcBef>
              <a:spcAft>
                <a:spcPts val="0"/>
              </a:spcAft>
              <a:buNone/>
            </a:pPr>
            <a:r>
              <a:rPr lang="en" sz="1100" dirty="0">
                <a:solidFill>
                  <a:srgbClr val="000000"/>
                </a:solidFill>
                <a:latin typeface="Times New Roman"/>
                <a:ea typeface="Times New Roman"/>
                <a:cs typeface="Times New Roman"/>
                <a:sym typeface="Times New Roman"/>
              </a:rPr>
              <a:t>[3] County level unemployment data						 </a:t>
            </a:r>
            <a:r>
              <a:rPr lang="en" sz="1100" u="sng" dirty="0">
                <a:solidFill>
                  <a:schemeClr val="hlink"/>
                </a:solidFill>
                <a:latin typeface="Times New Roman"/>
                <a:ea typeface="Times New Roman"/>
                <a:cs typeface="Times New Roman"/>
                <a:sym typeface="Times New Roman"/>
                <a:hlinkClick r:id="rId4"/>
              </a:rPr>
              <a:t>https://www.kaggle.com/jayrav13/unemployment-by-county-us</a:t>
            </a:r>
            <a:endParaRPr sz="1100" dirty="0">
              <a:solidFill>
                <a:srgbClr val="000000"/>
              </a:solidFill>
              <a:latin typeface="Times New Roman"/>
              <a:ea typeface="Times New Roman"/>
              <a:cs typeface="Times New Roman"/>
              <a:sym typeface="Times New Roman"/>
            </a:endParaRPr>
          </a:p>
          <a:p>
            <a:pPr marL="0" lvl="0" indent="0">
              <a:spcBef>
                <a:spcPts val="1600"/>
              </a:spcBef>
              <a:spcAft>
                <a:spcPts val="0"/>
              </a:spcAft>
              <a:buNone/>
            </a:pPr>
            <a:r>
              <a:rPr lang="en" sz="1100" dirty="0">
                <a:solidFill>
                  <a:srgbClr val="000000"/>
                </a:solidFill>
                <a:latin typeface="Times New Roman"/>
                <a:ea typeface="Times New Roman"/>
                <a:cs typeface="Times New Roman"/>
                <a:sym typeface="Times New Roman"/>
              </a:rPr>
              <a:t>[4] State level GDP data 		              </a:t>
            </a:r>
            <a:r>
              <a:rPr lang="en" sz="1100" u="sng" dirty="0">
                <a:solidFill>
                  <a:schemeClr val="hlink"/>
                </a:solidFill>
                <a:latin typeface="Arial"/>
                <a:ea typeface="Arial"/>
                <a:cs typeface="Arial"/>
                <a:sym typeface="Arial"/>
                <a:hlinkClick r:id="rId5"/>
              </a:rPr>
              <a:t>https://www.bea.gov/itable/iTable.cfm?ReqID=70&amp;step=1#reqid=70&amp;step=1&amp;isuri=1</a:t>
            </a:r>
            <a:endParaRPr sz="1100" u="sng" dirty="0">
              <a:solidFill>
                <a:schemeClr val="hlink"/>
              </a:solidFill>
              <a:latin typeface="Arial"/>
              <a:ea typeface="Arial"/>
              <a:cs typeface="Arial"/>
              <a:sym typeface="Arial"/>
            </a:endParaRPr>
          </a:p>
          <a:p>
            <a:pPr marL="0" lvl="0" indent="0" rtl="0">
              <a:spcBef>
                <a:spcPts val="1600"/>
              </a:spcBef>
              <a:spcAft>
                <a:spcPts val="0"/>
              </a:spcAft>
              <a:buNone/>
            </a:pPr>
            <a:r>
              <a:rPr lang="en" sz="1100" dirty="0">
                <a:solidFill>
                  <a:srgbClr val="000000"/>
                </a:solidFill>
                <a:latin typeface="Times New Roman"/>
                <a:ea typeface="Times New Roman"/>
                <a:cs typeface="Times New Roman"/>
                <a:sym typeface="Times New Roman"/>
              </a:rPr>
              <a:t>[5] 30 year Mortgage rates 				           </a:t>
            </a:r>
            <a:r>
              <a:rPr lang="en" sz="1100" u="sng" dirty="0">
                <a:solidFill>
                  <a:srgbClr val="4FC3F7"/>
                </a:solidFill>
                <a:latin typeface="Arial"/>
                <a:ea typeface="Arial"/>
                <a:cs typeface="Arial"/>
                <a:sym typeface="Arial"/>
              </a:rPr>
              <a:t>https://fred.stlouisfed.org/series/MORTGAGE30US</a:t>
            </a:r>
            <a:endParaRPr sz="1100" u="sng" dirty="0">
              <a:solidFill>
                <a:srgbClr val="4FC3F7"/>
              </a:solidFill>
              <a:latin typeface="Arial"/>
              <a:ea typeface="Arial"/>
              <a:cs typeface="Arial"/>
              <a:sym typeface="Arial"/>
            </a:endParaRPr>
          </a:p>
          <a:p>
            <a:pPr marL="0" lvl="0" indent="0" rtl="0">
              <a:spcBef>
                <a:spcPts val="1600"/>
              </a:spcBef>
              <a:spcAft>
                <a:spcPts val="1600"/>
              </a:spcAft>
              <a:buNone/>
            </a:pPr>
            <a:r>
              <a:rPr lang="en" sz="1100" dirty="0">
                <a:solidFill>
                  <a:srgbClr val="000000"/>
                </a:solidFill>
                <a:latin typeface="Times New Roman"/>
                <a:ea typeface="Times New Roman"/>
                <a:cs typeface="Times New Roman"/>
                <a:sym typeface="Times New Roman"/>
              </a:rPr>
              <a:t>[6] IRS income </a:t>
            </a:r>
            <a:r>
              <a:rPr lang="en" sz="1100">
                <a:solidFill>
                  <a:srgbClr val="000000"/>
                </a:solidFill>
                <a:latin typeface="Times New Roman"/>
                <a:ea typeface="Times New Roman"/>
                <a:cs typeface="Times New Roman"/>
                <a:sym typeface="Times New Roman"/>
              </a:rPr>
              <a:t>tax data</a:t>
            </a:r>
            <a:r>
              <a:rPr lang="en" sz="1100" u="sng">
                <a:solidFill>
                  <a:schemeClr val="hlink"/>
                </a:solidFill>
                <a:latin typeface="Arial"/>
                <a:ea typeface="Times New Roman"/>
                <a:cs typeface="Arial"/>
                <a:sym typeface="Arial"/>
              </a:rPr>
              <a:t>                                                                                                                                             </a:t>
            </a:r>
            <a:r>
              <a:rPr lang="en" sz="1100" u="sng">
                <a:solidFill>
                  <a:schemeClr val="hlink"/>
                </a:solidFill>
                <a:latin typeface="Arial"/>
                <a:ea typeface="Arial"/>
                <a:cs typeface="Arial"/>
                <a:sym typeface="Arial"/>
              </a:rPr>
              <a:t>https</a:t>
            </a:r>
            <a:r>
              <a:rPr lang="en" sz="1100" u="sng" dirty="0">
                <a:solidFill>
                  <a:schemeClr val="hlink"/>
                </a:solidFill>
                <a:latin typeface="Arial"/>
                <a:ea typeface="Arial"/>
                <a:cs typeface="Arial"/>
                <a:sym typeface="Arial"/>
              </a:rPr>
              <a:t>://www.irs.gov/statistics/soi-tax-stats-individual-income-tax-statistics-zip-code-data-soi</a:t>
            </a:r>
            <a:endParaRPr sz="1100" u="sng" dirty="0">
              <a:solidFill>
                <a:schemeClr val="hlink"/>
              </a:solidFill>
              <a:latin typeface="Arial"/>
              <a:ea typeface="Arial"/>
              <a:cs typeface="Arial"/>
              <a:sym typeface="Arial"/>
            </a:endParaRPr>
          </a:p>
        </p:txBody>
      </p:sp>
      <p:sp>
        <p:nvSpPr>
          <p:cNvPr id="590" name="Shape 590"/>
          <p:cNvSpPr/>
          <p:nvPr/>
        </p:nvSpPr>
        <p:spPr>
          <a:xfrm>
            <a:off x="62240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1" name="Shape 591"/>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592" name="Shape 592"/>
          <p:cNvSpPr/>
          <p:nvPr/>
        </p:nvSpPr>
        <p:spPr>
          <a:xfrm>
            <a:off x="7138475" y="141150"/>
            <a:ext cx="10257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3" name="Shape 593"/>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594" name="Shape 594"/>
          <p:cNvSpPr/>
          <p:nvPr/>
        </p:nvSpPr>
        <p:spPr>
          <a:xfrm>
            <a:off x="80893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5" name="Shape 595"/>
          <p:cNvSpPr txBox="1"/>
          <p:nvPr/>
        </p:nvSpPr>
        <p:spPr>
          <a:xfrm>
            <a:off x="8226825" y="151475"/>
            <a:ext cx="1286100" cy="1998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596" name="Shape 596"/>
          <p:cNvSpPr/>
          <p:nvPr/>
        </p:nvSpPr>
        <p:spPr>
          <a:xfrm>
            <a:off x="5309675" y="141150"/>
            <a:ext cx="990600" cy="349500"/>
          </a:xfrm>
          <a:prstGeom prst="chevron">
            <a:avLst>
              <a:gd name="adj"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7" name="Shape 597"/>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598" name="Shape 598"/>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99" name="Shape 599"/>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600" name="Shape 600"/>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1" name="Shape 601"/>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602" name="Shape 602"/>
          <p:cNvSpPr/>
          <p:nvPr/>
        </p:nvSpPr>
        <p:spPr>
          <a:xfrm>
            <a:off x="5309675" y="141150"/>
            <a:ext cx="9906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3" name="Shape 603"/>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Introduction</a:t>
            </a:r>
            <a:endParaRPr sz="900">
              <a:solidFill>
                <a:srgbClr val="FFFFFF"/>
              </a:solidFill>
            </a:endParaRPr>
          </a:p>
        </p:txBody>
      </p:sp>
      <p:sp>
        <p:nvSpPr>
          <p:cNvPr id="604" name="Shape 604"/>
          <p:cNvSpPr/>
          <p:nvPr/>
        </p:nvSpPr>
        <p:spPr>
          <a:xfrm>
            <a:off x="80528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5" name="Shape 605"/>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Conclusion</a:t>
            </a:r>
            <a:endParaRPr sz="900"/>
          </a:p>
        </p:txBody>
      </p:sp>
      <p:sp>
        <p:nvSpPr>
          <p:cNvPr id="606" name="Shape 606"/>
          <p:cNvSpPr/>
          <p:nvPr/>
        </p:nvSpPr>
        <p:spPr>
          <a:xfrm>
            <a:off x="6224075" y="141150"/>
            <a:ext cx="9906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7" name="Shape 607"/>
          <p:cNvSpPr txBox="1"/>
          <p:nvPr/>
        </p:nvSpPr>
        <p:spPr>
          <a:xfrm>
            <a:off x="63227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Visualizations</a:t>
            </a:r>
            <a:endParaRPr sz="900"/>
          </a:p>
        </p:txBody>
      </p:sp>
      <p:sp>
        <p:nvSpPr>
          <p:cNvPr id="608" name="Shape 608"/>
          <p:cNvSpPr/>
          <p:nvPr/>
        </p:nvSpPr>
        <p:spPr>
          <a:xfrm>
            <a:off x="7138475" y="141150"/>
            <a:ext cx="1025700" cy="349500"/>
          </a:xfrm>
          <a:prstGeom prst="chevron">
            <a:avLst>
              <a:gd name="adj"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9" name="Shape 609"/>
          <p:cNvSpPr txBox="1"/>
          <p:nvPr/>
        </p:nvSpPr>
        <p:spPr>
          <a:xfrm>
            <a:off x="73205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Modeling</a:t>
            </a:r>
            <a:endParaRPr sz="900"/>
          </a:p>
        </p:txBody>
      </p:sp>
      <p:sp>
        <p:nvSpPr>
          <p:cNvPr id="610" name="Shape 610"/>
          <p:cNvSpPr/>
          <p:nvPr/>
        </p:nvSpPr>
        <p:spPr>
          <a:xfrm>
            <a:off x="5309675" y="141150"/>
            <a:ext cx="990600" cy="349500"/>
          </a:xfrm>
          <a:prstGeom prst="chevron">
            <a:avLst>
              <a:gd name="adj" fmla="val 50000"/>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11" name="Shape 611"/>
          <p:cNvSpPr txBox="1"/>
          <p:nvPr/>
        </p:nvSpPr>
        <p:spPr>
          <a:xfrm>
            <a:off x="540834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t>Introduction</a:t>
            </a:r>
            <a:endParaRPr sz="900"/>
          </a:p>
        </p:txBody>
      </p:sp>
      <p:sp>
        <p:nvSpPr>
          <p:cNvPr id="612" name="Shape 612"/>
          <p:cNvSpPr/>
          <p:nvPr/>
        </p:nvSpPr>
        <p:spPr>
          <a:xfrm>
            <a:off x="8052875" y="141150"/>
            <a:ext cx="1025700" cy="349500"/>
          </a:xfrm>
          <a:prstGeom prst="chevron">
            <a:avLst>
              <a:gd name="adj" fmla="val 50000"/>
            </a:avLst>
          </a:prstGeom>
          <a:solidFill>
            <a:srgbClr val="4343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434343"/>
              </a:solidFill>
            </a:endParaRPr>
          </a:p>
        </p:txBody>
      </p:sp>
      <p:sp>
        <p:nvSpPr>
          <p:cNvPr id="613" name="Shape 613"/>
          <p:cNvSpPr txBox="1"/>
          <p:nvPr/>
        </p:nvSpPr>
        <p:spPr>
          <a:xfrm>
            <a:off x="8234987" y="137443"/>
            <a:ext cx="1203000" cy="144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900">
                <a:solidFill>
                  <a:srgbClr val="FFFFFF"/>
                </a:solidFill>
              </a:rPr>
              <a:t>Conclusion</a:t>
            </a:r>
            <a:endParaRPr sz="900">
              <a:solidFill>
                <a:srgbClr val="FFFFFF"/>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774</Words>
  <Application>Microsoft Office PowerPoint</Application>
  <PresentationFormat>On-screen Show (16:9)</PresentationFormat>
  <Paragraphs>275</Paragraphs>
  <Slides>19</Slides>
  <Notes>19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19</vt:i4>
      </vt:variant>
    </vt:vector>
  </HeadingPairs>
  <TitlesOfParts>
    <vt:vector size="24" baseType="lpstr">
      <vt:lpstr>Times New Roman</vt:lpstr>
      <vt:lpstr>Roboto</vt:lpstr>
      <vt:lpstr>Arial</vt:lpstr>
      <vt:lpstr>Simple Light</vt:lpstr>
      <vt:lpstr>Material</vt:lpstr>
      <vt:lpstr>Analyzing and predicting the Housing Market</vt:lpstr>
      <vt:lpstr>Motivation</vt:lpstr>
      <vt:lpstr>Agenda</vt:lpstr>
      <vt:lpstr>Zillow data</vt:lpstr>
      <vt:lpstr>Analysis plan</vt:lpstr>
      <vt:lpstr>Strategy</vt:lpstr>
      <vt:lpstr>Big markets may be cheap</vt:lpstr>
      <vt:lpstr>3 Bed homes cheaper</vt:lpstr>
      <vt:lpstr>Home type may not matter</vt:lpstr>
      <vt:lpstr>No reversion to mean</vt:lpstr>
      <vt:lpstr>High Ratio = High Growth</vt:lpstr>
      <vt:lpstr>Cheap markets stay cheap</vt:lpstr>
      <vt:lpstr>Factors affecting House Prices</vt:lpstr>
      <vt:lpstr>IRS data</vt:lpstr>
      <vt:lpstr>Modeling the relationship</vt:lpstr>
      <vt:lpstr>Modeling results</vt:lpstr>
      <vt:lpstr>Results discussion</vt:lpstr>
      <vt:lpstr>Summary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and predicting the Housing Market</dc:title>
  <cp:lastModifiedBy>Leelakrishna Sai Prasanth Bollempalli</cp:lastModifiedBy>
  <cp:revision>2</cp:revision>
  <dcterms:modified xsi:type="dcterms:W3CDTF">2018-03-29T20:35:19Z</dcterms:modified>
</cp:coreProperties>
</file>