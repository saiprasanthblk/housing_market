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Shape 6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Shape 6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Shape 7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Shape 8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Shape 9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Shape 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Shape 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Shape 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Shape 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Shape 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Shape 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zillow.com/research/data/" TargetMode="External"/><Relationship Id="rId4" Type="http://schemas.openxmlformats.org/officeDocument/2006/relationships/hyperlink" Target="https://www.zillow.com/research/data/" TargetMode="External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Housing Market </a:t>
            </a:r>
            <a:endParaRPr/>
          </a:p>
        </p:txBody>
      </p:sp>
      <p:sp>
        <p:nvSpPr>
          <p:cNvPr id="55" name="Shape 5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Shape 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Shape 57"/>
          <p:cNvSpPr txBox="1"/>
          <p:nvPr/>
        </p:nvSpPr>
        <p:spPr>
          <a:xfrm>
            <a:off x="168175" y="1775"/>
            <a:ext cx="8843400" cy="9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C4587"/>
                </a:solidFill>
              </a:rPr>
              <a:t>US Housing market descriptive analytics </a:t>
            </a:r>
            <a:endParaRPr b="1" sz="2800">
              <a:solidFill>
                <a:srgbClr val="1C4587"/>
              </a:solidFill>
            </a:endParaRPr>
          </a:p>
          <a:p>
            <a:pPr indent="0" lvl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4587"/>
                </a:solidFill>
              </a:rPr>
              <a:t>                                                      </a:t>
            </a:r>
            <a:r>
              <a:rPr b="1" lang="en">
                <a:solidFill>
                  <a:srgbClr val="1C4587"/>
                </a:solidFill>
              </a:rPr>
              <a:t>Sai Prasanth</a:t>
            </a:r>
            <a:endParaRPr b="1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</a:rPr>
              <a:t>Zillow home prices and rents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63" name="Shape 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ADADAD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ADADAD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ADADAD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ADADAD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ADADAD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ADADAD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ADADAD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ADADAD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ADADAD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ADADAD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ADADAD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</a:rPr>
              <a:t>●</a:t>
            </a:r>
            <a:r>
              <a:rPr lang="en" sz="1200" u="sng">
                <a:solidFill>
                  <a:srgbClr val="1C4587"/>
                </a:solidFill>
                <a:hlinkClick r:id="rId3"/>
              </a:rPr>
              <a:t>https://www.zillow.com/research/data/</a:t>
            </a:r>
            <a:endParaRPr sz="1200" u="sng">
              <a:solidFill>
                <a:srgbClr val="1C4587"/>
              </a:solidFill>
              <a:hlinkClick r:id="rId4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</a:rPr>
              <a:t>●Home prices and rents of all popular zip codes in USA</a:t>
            </a:r>
            <a:endParaRPr sz="1200">
              <a:solidFill>
                <a:srgbClr val="000000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</a:rPr>
              <a:t>●20 files, 10 MB</a:t>
            </a:r>
            <a:endParaRPr sz="1200">
              <a:solidFill>
                <a:srgbClr val="000000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Shape 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62875" y="204788"/>
            <a:ext cx="108585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Shape 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1950" y="1452563"/>
            <a:ext cx="8572500" cy="193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Analysis Plan</a:t>
            </a:r>
            <a:endParaRPr/>
          </a:p>
        </p:txBody>
      </p:sp>
      <p:sp>
        <p:nvSpPr>
          <p:cNvPr id="71" name="Shape 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Shape 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25941"/>
            <a:ext cx="9144001" cy="3910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Wrangle 1</a:t>
            </a:r>
            <a:endParaRPr/>
          </a:p>
        </p:txBody>
      </p:sp>
      <p:sp>
        <p:nvSpPr>
          <p:cNvPr id="78" name="Shape 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Shape 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900" y="902575"/>
            <a:ext cx="6830596" cy="424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Wrangle 2</a:t>
            </a:r>
            <a:endParaRPr/>
          </a:p>
        </p:txBody>
      </p:sp>
      <p:sp>
        <p:nvSpPr>
          <p:cNvPr id="85" name="Shape 8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Shape 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925" y="1251063"/>
            <a:ext cx="369570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Shape 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8675" y="1034388"/>
            <a:ext cx="42672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Shape 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100" y="2471925"/>
            <a:ext cx="8686800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94" name="Shape 9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Shape 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217625"/>
            <a:ext cx="8677275" cy="35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